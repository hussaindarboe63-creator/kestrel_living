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0161b4-e93d-43f4-2934-f19a3252bba9}">
          <p14:sldIdLst>
            <p14:sldId id="256"/>
          </p14:sldIdLst>
        </p14:section>
        <p14:section name="Findings" id="{2147b309-8bcb-72f9-5d3b-5e964c72ea17}">
          <p14:sldIdLst>
            <p14:sldId id="257"/>
            <p14:sldId id="258"/>
            <p14:sldId id="259"/>
            <p14:sldId id="260"/>
            <p14:sldId id="261"/>
            <p14:sldId id="262"/>
            <p14:sldId id="263"/>
            <p14:sldId id="264"/>
            <p14:sldId id="265"/>
          </p14:sldIdLst>
        </p14:section>
        <p14:section name="Solution" id="{e7c5ae0c-c395-7de0-6722-505f7e3b7485}">
          <p14:sldIdLst>
            <p14:sldId id="266"/>
            <p14:sldId id="267"/>
            <p14:sldId id="268"/>
          </p14:sldIdLst>
        </p14:section>
        <p14:section name="Role" id="{c0ae4428-b6aa-4ac9-d5d3-4d815f8e8dcd}">
          <p14:sldIdLst>
            <p14:sldId id="269"/>
            <p14:sldId id="270"/>
            <p14:sldId id="271"/>
          </p14:sldIdLst>
        </p14:section>
        <p14:section name="Next steps" id="{e46b196d-13f3-93a1-6808-4cdb72847e72}">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Verdicts</c:v>
                </c:pt>
              </c:strCache>
            </c:strRef>
          </c:tx>
          <c:spPr>
            <a:solidFill>
              <a:schemeClr val="accent1"/>
            </a:solidFill>
            <a:ln w="9525" cap="flat">
              <a:solidFill>
                <a:srgbClr val="F9F9F9"/>
              </a:solidFill>
              <a:prstDash val="solid"/>
              <a:round/>
            </a:ln>
            <a:effectLst/>
          </c:spPr>
          <c:dPt>
            <c:idx val="0"/>
            <c:bubble3D val="0"/>
            <c:spPr>
              <a:solidFill>
                <a:srgbClr val="2A9D8F"/>
              </a:solidFill>
              <a:ln w="25400" cap="flat">
                <a:solidFill>
                  <a:srgbClr val="FFFFFF"/>
                </a:solidFill>
                <a:prstDash val="solid"/>
                <a:round/>
              </a:ln>
              <a:effectLst/>
            </c:spPr>
          </c:dPt>
          <c:dPt>
            <c:idx val="1"/>
            <c:bubble3D val="0"/>
            <c:spPr>
              <a:solidFill>
                <a:srgbClr val="8CCFC4"/>
              </a:solidFill>
              <a:ln w="25400" cap="flat">
                <a:solidFill>
                  <a:srgbClr val="FFFFFF"/>
                </a:solidFill>
                <a:prstDash val="solid"/>
                <a:round/>
              </a:ln>
              <a:effectLst/>
            </c:spPr>
          </c:dPt>
          <c:dPt>
            <c:idx val="2"/>
            <c:bubble3D val="0"/>
            <c:spPr>
              <a:solidFill>
                <a:srgbClr val="E9A23B"/>
              </a:solidFill>
              <a:ln w="25400" cap="flat">
                <a:solidFill>
                  <a:srgbClr val="FFFFFF"/>
                </a:solidFill>
                <a:prstDash val="solid"/>
                <a:round/>
              </a:ln>
              <a:effectLst/>
            </c:spPr>
          </c:dPt>
          <c:dPt>
            <c:idx val="3"/>
            <c:bubble3D val="0"/>
            <c:spPr>
              <a:solidFill>
                <a:srgbClr val="C0392B"/>
              </a:solidFill>
              <a:ln w="25400" cap="flat">
                <a:solidFill>
                  <a:srgbClr val="FFFFFF"/>
                </a:solidFill>
                <a:prstDash val="solid"/>
                <a:round/>
              </a:ln>
              <a:effectLst/>
            </c:spPr>
          </c:dPt>
          <c:dPt>
            <c:idx val="4"/>
            <c:bubble3D val="0"/>
            <c:spPr>
              <a:solidFill>
                <a:srgbClr val="2D3A4A"/>
              </a:solidFill>
              <a:ln w="25400" cap="flat">
                <a:solidFill>
                  <a:srgbClr val="FFFFFF"/>
                </a:solidFill>
                <a:prstDash val="solid"/>
                <a:round/>
              </a:ln>
              <a:effectLst/>
            </c:spPr>
          </c:dPt>
          <c:dLbls>
            <c:dLbl>
              <c:idx val="0"/>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3"/>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dLbl>
              <c:idx val="4"/>
              <c:numFmt formatCode="General" sourceLinked="0"/>
              <c:spPr/>
              <c:txPr>
                <a:bodyPr/>
                <a:lstStyle/>
                <a:p>
                  <a:pPr>
                    <a:defRPr sz="16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Correct</c:v>
                </c:pt>
                <c:pt idx="1">
                  <c:v>Correct, with caveat</c:v>
                </c:pt>
                <c:pt idx="2">
                  <c:v>Misleading</c:v>
                </c:pt>
                <c:pt idx="3">
                  <c:v>Wrong</c:v>
                </c:pt>
                <c:pt idx="4">
                  <c:v>Non-compliant</c:v>
                </c:pt>
              </c:strCache>
            </c:strRef>
          </c:cat>
          <c:val>
            <c:numRef>
              <c:f>Sheet1!$B$2:$B$6</c:f>
              <c:numCache>
                <c:ptCount val="5"/>
                <c:pt idx="0">
                  <c:v>4</c:v>
                </c:pt>
                <c:pt idx="1">
                  <c:v>2</c:v>
                </c:pt>
                <c:pt idx="2">
                  <c:v>2</c:v>
                </c:pt>
                <c:pt idx="3">
                  <c:v>5</c:v>
                </c:pt>
                <c:pt idx="4">
                  <c:v>2</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Average AI confidence score (0 to 100)</a:t>
            </a:r>
          </a:p>
        </c:rich>
      </c:tx>
      <c:layout/>
      <c:overlay val="0"/>
    </c:title>
    <c:autoTitleDeleted val="0"/>
    <c:plotArea>
      <c:layout/>
      <c:barChart>
        <c:barDir val="col"/>
        <c:grouping val="clustered"/>
        <c:varyColors val="0"/>
        <c:ser>
          <c:idx val="0"/>
          <c:order val="0"/>
          <c:tx>
            <c:strRef>
              <c:f>Sheet1!$B$1</c:f>
              <c:strCache>
                <c:ptCount val="1"/>
                <c:pt idx="0">
                  <c:v>Average AI confidence</c:v>
                </c:pt>
              </c:strCache>
            </c:strRef>
          </c:tx>
          <c:spPr>
            <a:solidFill>
              <a:srgbClr val="2A9D8F"/>
            </a:solidFill>
            <a:effectLst/>
          </c:spPr>
          <c:invertIfNegative val="0"/>
          <c:dLbls>
            <c:numFmt formatCode="0.0"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C0392B"/>
              </a:solidFill>
              <a:effectLst/>
            </c:spPr>
          </c:dPt>
          <c:dPt>
            <c:idx val="2"/>
            <c:invertIfNegative val="0"/>
            <c:bubble3D val="0"/>
            <c:spPr>
              <a:solidFill>
                <a:srgbClr val="2D3A4A"/>
              </a:solidFill>
              <a:effectLst/>
            </c:spPr>
          </c:dPt>
          <c:cat>
            <c:multiLvlStrRef>
              <c:f>Sheet1!$A$2:$A$4</c:f>
              <c:multiLvlStrCache>
                <c:ptCount val="3"/>
                <c:lvl>
                  <c:pt idx="0">
                    <c:v>Correct answers</c:v>
                  </c:pt>
                  <c:pt idx="1">
                    <c:v>Wrong answers</c:v>
                  </c:pt>
                  <c:pt idx="2">
                    <c:v>Privacy breaches</c:v>
                  </c:pt>
                </c:lvl>
              </c:multiLvlStrCache>
            </c:multiLvlStrRef>
          </c:cat>
          <c:val>
            <c:numRef>
              <c:f>Sheet1!$B$2:$B$4</c:f>
              <c:numCache>
                <c:formatCode>General</c:formatCode>
                <c:ptCount val="3"/>
                <c:pt idx="0">
                  <c:v>93</c:v>
                </c:pt>
                <c:pt idx="1">
                  <c:v>92.6</c:v>
                </c:pt>
                <c:pt idx="2">
                  <c:v>98.5</c:v>
                </c:pt>
              </c:numCache>
            </c:numRef>
          </c:val>
        </c:ser>
        <c:dLbls>
          <c:numFmt formatCode="0.0"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2025 profit, £M</a:t>
            </a:r>
          </a:p>
        </c:rich>
      </c:tx>
      <c:layout/>
      <c:overlay val="0"/>
    </c:title>
    <c:autoTitleDeleted val="0"/>
    <c:plotArea>
      <c:layout/>
      <c:barChart>
        <c:barDir val="col"/>
        <c:grouping val="clustered"/>
        <c:varyColors val="0"/>
        <c:ser>
          <c:idx val="0"/>
          <c:order val="0"/>
          <c:tx>
            <c:strRef>
              <c:f>Sheet1!$B$1</c:f>
              <c:strCache>
                <c:ptCount val="1"/>
                <c:pt idx="0">
                  <c:v>2025 profit</c:v>
                </c:pt>
              </c:strCache>
            </c:strRef>
          </c:tx>
          <c:spPr>
            <a:solidFill>
              <a:srgbClr val="C0392B"/>
            </a:solidFill>
            <a:effectLst/>
          </c:spPr>
          <c:invertIfNegative val="0"/>
          <c:dLbls>
            <c:numFmt formatCode="£0.00&quot;M&quot;" sourceLinked="0"/>
            <c:txPr>
              <a:bodyPr/>
              <a:lstStyle/>
              <a:p>
                <a:pPr>
                  <a:defRPr b="1" i="0" strike="noStrike" sz="14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2A9D8F"/>
              </a:solidFill>
              <a:effectLst/>
            </c:spPr>
          </c:dPt>
          <c:cat>
            <c:multiLvlStrRef>
              <c:f>Sheet1!$A$2:$A$3</c:f>
              <c:multiLvlStrCache>
                <c:ptCount val="2"/>
                <c:lvl>
                  <c:pt idx="0">
                    <c:v>AI said</c:v>
                  </c:pt>
                  <c:pt idx="1">
                    <c:v>Validated profit</c:v>
                  </c:pt>
                </c:lvl>
              </c:multiLvlStrCache>
            </c:multiLvlStrRef>
          </c:cat>
          <c:val>
            <c:numRef>
              <c:f>Sheet1!$B$2:$B$3</c:f>
              <c:numCache>
                <c:formatCode>General</c:formatCode>
                <c:ptCount val="2"/>
                <c:pt idx="0">
                  <c:v>22.97</c:v>
                </c:pt>
                <c:pt idx="1">
                  <c:v>9.62</c:v>
                </c:pt>
              </c:numCache>
            </c:numRef>
          </c:val>
        </c:ser>
        <c:dLbls>
          <c:numFmt formatCode="£0.00&quot;M&quot;" sourceLinked="0"/>
          <c:txPr>
            <a:bodyPr/>
            <a:lstStyle/>
            <a:p>
              <a:pPr>
                <a:defRPr b="1" i="0" strike="noStrike" sz="14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Revenue bridge, £M</a:t>
            </a:r>
          </a:p>
        </c:rich>
      </c:tx>
      <c:layout/>
      <c:overlay val="0"/>
    </c:title>
    <c:autoTitleDeleted val="0"/>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Gross revenue</c:v>
                  </c:pt>
                  <c:pt idx="1">
                    <c:v>Discounts</c:v>
                  </c:pt>
                  <c:pt idx="2">
                    <c:v>Net revenue</c:v>
                  </c:pt>
                  <c:pt idx="3">
                    <c:v>Returns</c:v>
                  </c:pt>
                  <c:pt idx="4">
                    <c:v>Return-adjusted</c:v>
                  </c:pt>
                </c:lvl>
              </c:multiLvlStrCache>
            </c:multiLvlStrRef>
          </c:cat>
          <c:val>
            <c:numRef>
              <c:f>Sheet1!$B$2:$B$6</c:f>
              <c:numCache>
                <c:formatCode>General</c:formatCode>
                <c:ptCount val="5"/>
                <c:pt idx="0">
                  <c:v>0</c:v>
                </c:pt>
                <c:pt idx="1">
                  <c:v>22.97</c:v>
                </c:pt>
                <c:pt idx="2">
                  <c:v>0</c:v>
                </c:pt>
                <c:pt idx="3">
                  <c:v>21.81</c:v>
                </c:pt>
                <c:pt idx="4">
                  <c:v>0</c:v>
                </c:pt>
              </c:numCache>
            </c:numRef>
          </c:val>
        </c:ser>
        <c:ser>
          <c:idx val="1"/>
          <c:order val="1"/>
          <c:tx>
            <c:strRef>
              <c:f>Sheet1!$C$1</c:f>
              <c:strCache>
                <c:ptCount val="1"/>
                <c:pt idx="0">
                  <c:v>Total</c:v>
                </c:pt>
              </c:strCache>
            </c:strRef>
          </c:tx>
          <c:spPr>
            <a:solidFill>
              <a:srgbClr val="2D3A4A"/>
            </a:solidFill>
            <a:effectLst/>
          </c:spPr>
          <c:invertIfNegative val="0"/>
          <c:dLbls>
            <c:numFmt formatCode="0.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Gross revenue</c:v>
                  </c:pt>
                  <c:pt idx="1">
                    <c:v>Discounts</c:v>
                  </c:pt>
                  <c:pt idx="2">
                    <c:v>Net revenue</c:v>
                  </c:pt>
                  <c:pt idx="3">
                    <c:v>Returns</c:v>
                  </c:pt>
                  <c:pt idx="4">
                    <c:v>Return-adjusted</c:v>
                  </c:pt>
                </c:lvl>
              </c:multiLvlStrCache>
            </c:multiLvlStrRef>
          </c:cat>
          <c:val>
            <c:numRef>
              <c:f>Sheet1!$C$2:$C$6</c:f>
              <c:numCache>
                <c:formatCode>General</c:formatCode>
                <c:ptCount val="5"/>
                <c:pt idx="0">
                  <c:v>24.31</c:v>
                </c:pt>
                <c:pt idx="1">
                  <c:v>0</c:v>
                </c:pt>
                <c:pt idx="2">
                  <c:v>22.97</c:v>
                </c:pt>
                <c:pt idx="3">
                  <c:v>0</c:v>
                </c:pt>
                <c:pt idx="4">
                  <c:v>21.81</c:v>
                </c:pt>
              </c:numCache>
            </c:numRef>
          </c:val>
        </c:ser>
        <c:ser>
          <c:idx val="2"/>
          <c:order val="2"/>
          <c:tx>
            <c:strRef>
              <c:f>Sheet1!$D$1</c:f>
              <c:strCache>
                <c:ptCount val="1"/>
                <c:pt idx="0">
                  <c:v>Leak</c:v>
                </c:pt>
              </c:strCache>
            </c:strRef>
          </c:tx>
          <c:spPr>
            <a:solidFill>
              <a:srgbClr val="C0392B"/>
            </a:solidFill>
            <a:effectLst/>
          </c:spPr>
          <c:invertIfNegative val="0"/>
          <c:dLbls>
            <c:numFmt formatCode="0.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Gross revenue</c:v>
                  </c:pt>
                  <c:pt idx="1">
                    <c:v>Discounts</c:v>
                  </c:pt>
                  <c:pt idx="2">
                    <c:v>Net revenue</c:v>
                  </c:pt>
                  <c:pt idx="3">
                    <c:v>Returns</c:v>
                  </c:pt>
                  <c:pt idx="4">
                    <c:v>Return-adjusted</c:v>
                  </c:pt>
                </c:lvl>
              </c:multiLvlStrCache>
            </c:multiLvlStrRef>
          </c:cat>
          <c:val>
            <c:numRef>
              <c:f>Sheet1!$D$2:$D$6</c:f>
              <c:numCache>
                <c:formatCode>General</c:formatCode>
                <c:ptCount val="5"/>
                <c:pt idx="0">
                  <c:v>0</c:v>
                </c:pt>
                <c:pt idx="1">
                  <c:v>1.35</c:v>
                </c:pt>
                <c:pt idx="2">
                  <c:v>0</c:v>
                </c:pt>
                <c:pt idx="3">
                  <c:v>1.16</c:v>
                </c:pt>
                <c:pt idx="4">
                  <c:v>0</c:v>
                </c:pt>
              </c:numCache>
            </c:numRef>
          </c:val>
        </c:ser>
        <c:dLbls>
          <c:numFmt formatCode="0.0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25"/>
          <c:min val="2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Profit</c:v>
                </c:pt>
              </c:strCache>
            </c:strRef>
          </c:tx>
          <c:spPr>
            <a:solidFill>
              <a:srgbClr val="5B6B7C"/>
            </a:solidFill>
            <a:effectLst/>
          </c:spPr>
          <c:invertIfNegative val="0"/>
          <c:dLbls>
            <c:numFmt formatCode="£0.00&quot;M&quot;"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B7C"/>
              </a:solidFill>
              <a:effectLst/>
            </c:spPr>
          </c:dPt>
          <c:dPt>
            <c:idx val="1"/>
            <c:invertIfNegative val="0"/>
            <c:bubble3D val="0"/>
            <c:spPr>
              <a:solidFill>
                <a:srgbClr val="5B6B7C"/>
              </a:solidFill>
              <a:effectLst/>
            </c:spPr>
          </c:dPt>
          <c:dPt>
            <c:idx val="2"/>
            <c:invertIfNegative val="0"/>
            <c:bubble3D val="0"/>
            <c:spPr>
              <a:solidFill>
                <a:srgbClr val="5B6B7C"/>
              </a:solidFill>
              <a:effectLst/>
            </c:spPr>
          </c:dPt>
          <c:dPt>
            <c:idx val="3"/>
            <c:invertIfNegative val="0"/>
            <c:bubble3D val="0"/>
            <c:spPr>
              <a:solidFill>
                <a:srgbClr val="5B6B7C"/>
              </a:solidFill>
              <a:effectLst/>
            </c:spPr>
          </c:dPt>
          <c:dPt>
            <c:idx val="4"/>
            <c:invertIfNegative val="0"/>
            <c:bubble3D val="0"/>
            <c:spPr>
              <a:solidFill>
                <a:srgbClr val="5B6B7C"/>
              </a:solidFill>
              <a:effectLst/>
            </c:spPr>
          </c:dPt>
          <c:dPt>
            <c:idx val="5"/>
            <c:invertIfNegative val="0"/>
            <c:bubble3D val="0"/>
            <c:spPr>
              <a:solidFill>
                <a:srgbClr val="E9A23B"/>
              </a:solidFill>
              <a:effectLst/>
            </c:spPr>
          </c:dPt>
          <c:cat>
            <c:multiLvlStrRef>
              <c:f>Sheet1!$A$2:$A$7</c:f>
              <c:multiLvlStrCache>
                <c:ptCount val="6"/>
                <c:lvl>
                  <c:pt idx="0">
                    <c:v>Furniture</c:v>
                  </c:pt>
                  <c:pt idx="1">
                    <c:v>Bedroom</c:v>
                  </c:pt>
                  <c:pt idx="2">
                    <c:v>Outdoor</c:v>
                  </c:pt>
                  <c:pt idx="3">
                    <c:v>Kitchen &amp; Dining</c:v>
                  </c:pt>
                  <c:pt idx="4">
                    <c:v>Lighting</c:v>
                  </c:pt>
                  <c:pt idx="5">
                    <c:v>Home Décor</c:v>
                  </c:pt>
                </c:lvl>
              </c:multiLvlStrCache>
            </c:multiLvlStrRef>
          </c:cat>
          <c:val>
            <c:numRef>
              <c:f>Sheet1!$B$2:$B$7</c:f>
              <c:numCache>
                <c:formatCode>General</c:formatCode>
                <c:ptCount val="6"/>
                <c:pt idx="0">
                  <c:v>2.69</c:v>
                </c:pt>
                <c:pt idx="1">
                  <c:v>2.52</c:v>
                </c:pt>
                <c:pt idx="2">
                  <c:v>1.85</c:v>
                </c:pt>
                <c:pt idx="3">
                  <c:v>1.18</c:v>
                </c:pt>
                <c:pt idx="4">
                  <c:v>1</c:v>
                </c:pt>
                <c:pt idx="5">
                  <c:v>0.37</c:v>
                </c:pt>
              </c:numCache>
            </c:numRef>
          </c:val>
        </c:ser>
        <c:dLbls>
          <c:numFmt formatCode="£0.00&quot;M&quot;"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Margin</c:v>
                </c:pt>
              </c:strCache>
            </c:strRef>
          </c:tx>
          <c:spPr>
            <a:solidFill>
              <a:srgbClr val="5B6B7C"/>
            </a:solidFill>
            <a:effectLst/>
          </c:spPr>
          <c:invertIfNegative val="0"/>
          <c:dLbls>
            <c:numFmt formatCode="0.0&quot;%&quot;"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B7C"/>
              </a:solidFill>
              <a:effectLst/>
            </c:spPr>
          </c:dPt>
          <c:dPt>
            <c:idx val="1"/>
            <c:invertIfNegative val="0"/>
            <c:bubble3D val="0"/>
            <c:spPr>
              <a:solidFill>
                <a:srgbClr val="C0392B"/>
              </a:solidFill>
              <a:effectLst/>
            </c:spPr>
          </c:dPt>
          <c:dPt>
            <c:idx val="2"/>
            <c:invertIfNegative val="0"/>
            <c:bubble3D val="0"/>
            <c:spPr>
              <a:solidFill>
                <a:srgbClr val="5B6B7C"/>
              </a:solidFill>
              <a:effectLst/>
            </c:spPr>
          </c:dPt>
          <c:dPt>
            <c:idx val="3"/>
            <c:invertIfNegative val="0"/>
            <c:bubble3D val="0"/>
            <c:spPr>
              <a:solidFill>
                <a:srgbClr val="5B6B7C"/>
              </a:solidFill>
              <a:effectLst/>
            </c:spPr>
          </c:dPt>
          <c:dPt>
            <c:idx val="4"/>
            <c:invertIfNegative val="0"/>
            <c:bubble3D val="0"/>
            <c:spPr>
              <a:solidFill>
                <a:srgbClr val="5B6B7C"/>
              </a:solidFill>
              <a:effectLst/>
            </c:spPr>
          </c:dPt>
          <c:dPt>
            <c:idx val="5"/>
            <c:invertIfNegative val="0"/>
            <c:bubble3D val="0"/>
            <c:spPr>
              <a:solidFill>
                <a:srgbClr val="2A9D8F"/>
              </a:solidFill>
              <a:effectLst/>
            </c:spPr>
          </c:dPt>
          <c:cat>
            <c:multiLvlStrRef>
              <c:f>Sheet1!$A$2:$A$7</c:f>
              <c:multiLvlStrCache>
                <c:ptCount val="6"/>
                <c:lvl>
                  <c:pt idx="0">
                    <c:v>Furniture</c:v>
                  </c:pt>
                  <c:pt idx="1">
                    <c:v>Bedroom</c:v>
                  </c:pt>
                  <c:pt idx="2">
                    <c:v>Outdoor</c:v>
                  </c:pt>
                  <c:pt idx="3">
                    <c:v>Kitchen &amp; Dining</c:v>
                  </c:pt>
                  <c:pt idx="4">
                    <c:v>Lighting</c:v>
                  </c:pt>
                  <c:pt idx="5">
                    <c:v>Home Décor</c:v>
                  </c:pt>
                </c:lvl>
              </c:multiLvlStrCache>
            </c:multiLvlStrRef>
          </c:cat>
          <c:val>
            <c:numRef>
              <c:f>Sheet1!$B$2:$B$7</c:f>
              <c:numCache>
                <c:formatCode>General</c:formatCode>
                <c:ptCount val="6"/>
                <c:pt idx="0">
                  <c:v>37.8</c:v>
                </c:pt>
                <c:pt idx="1">
                  <c:v>36</c:v>
                </c:pt>
                <c:pt idx="2">
                  <c:v>44</c:v>
                </c:pt>
                <c:pt idx="3">
                  <c:v>53.8</c:v>
                </c:pt>
                <c:pt idx="4">
                  <c:v>54.3</c:v>
                </c:pt>
                <c:pt idx="5">
                  <c:v>62.4</c:v>
                </c:pt>
              </c:numCache>
            </c:numRef>
          </c:val>
        </c:ser>
        <c:dLbls>
          <c:numFmt formatCode="0.0&quot;%&quot;" sourceLinked="0"/>
          <c:txPr>
            <a:bodyPr/>
            <a:lstStyle/>
            <a:p>
              <a:pPr>
                <a:defRPr b="1" i="0" strike="noStrike" sz="1300" u="none">
                  <a:solidFill>
                    <a:srgbClr val="1B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7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Hours per week across the analyst team</a:t>
            </a:r>
          </a:p>
        </c:rich>
      </c:tx>
      <c:layout/>
      <c:overlay val="0"/>
    </c:title>
    <c:autoTitleDeleted val="0"/>
    <c:plotArea>
      <c:layout/>
      <c:barChart>
        <c:barDir val="col"/>
        <c:grouping val="clustered"/>
        <c:varyColors val="0"/>
        <c:ser>
          <c:idx val="0"/>
          <c:order val="0"/>
          <c:tx>
            <c:strRef>
              <c:f>Sheet1!$B$1</c:f>
              <c:strCache>
                <c:ptCount val="1"/>
                <c:pt idx="0">
                  <c:v>Hours per week</c:v>
                </c:pt>
              </c:strCache>
            </c:strRef>
          </c:tx>
          <c:spPr>
            <a:solidFill>
              <a:srgbClr val="5B6B7C"/>
            </a:solidFill>
            <a:effectLst/>
          </c:spPr>
          <c:invertIfNegative val="0"/>
          <c:dLbls>
            <c:numFmt formatCode="0&quot; h&quot;" sourceLinked="0"/>
            <c:txPr>
              <a:bodyPr/>
              <a:lstStyle/>
              <a:p>
                <a:pPr>
                  <a:defRPr b="1" i="0" strike="noStrike" sz="14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5B6B7C"/>
              </a:solidFill>
              <a:effectLst/>
            </c:spPr>
          </c:dPt>
          <c:dPt>
            <c:idx val="1"/>
            <c:invertIfNegative val="0"/>
            <c:bubble3D val="0"/>
            <c:spPr>
              <a:solidFill>
                <a:srgbClr val="D9622B"/>
              </a:solidFill>
              <a:effectLst/>
            </c:spPr>
          </c:dPt>
          <c:dPt>
            <c:idx val="2"/>
            <c:invertIfNegative val="0"/>
            <c:bubble3D val="0"/>
            <c:spPr>
              <a:solidFill>
                <a:srgbClr val="C0392B"/>
              </a:solidFill>
              <a:effectLst/>
            </c:spPr>
          </c:dPt>
          <c:dPt>
            <c:idx val="3"/>
            <c:invertIfNegative val="0"/>
            <c:bubble3D val="0"/>
            <c:spPr>
              <a:solidFill>
                <a:srgbClr val="2A9D8F"/>
              </a:solidFill>
              <a:effectLst/>
            </c:spPr>
          </c:dPt>
          <c:cat>
            <c:multiLvlStrRef>
              <c:f>Sheet1!$A$2:$A$5</c:f>
              <c:multiLvlStrCache>
                <c:ptCount val="4"/>
                <c:lvl>
                  <c:pt idx="0">
                    <c:v>Weekly analyst hours</c:v>
                  </c:pt>
                  <c:pt idx="1">
                    <c:v>Automated or assisted</c:v>
                  </c:pt>
                  <c:pt idx="2">
                    <c:v>Returns as new work</c:v>
                  </c:pt>
                  <c:pt idx="3">
                    <c:v>Freed for deeper analysis</c:v>
                  </c:pt>
                </c:lvl>
              </c:multiLvlStrCache>
            </c:multiLvlStrRef>
          </c:cat>
          <c:val>
            <c:numRef>
              <c:f>Sheet1!$B$2:$B$5</c:f>
              <c:numCache>
                <c:formatCode>General</c:formatCode>
                <c:ptCount val="4"/>
                <c:pt idx="0">
                  <c:v>94</c:v>
                </c:pt>
                <c:pt idx="1">
                  <c:v>37</c:v>
                </c:pt>
                <c:pt idx="2">
                  <c:v>24</c:v>
                </c:pt>
                <c:pt idx="3">
                  <c:v>13</c:v>
                </c:pt>
              </c:numCache>
            </c:numRef>
          </c:val>
        </c:ser>
        <c:dLbls>
          <c:numFmt formatCode="0&quot; h&quot;" sourceLinked="0"/>
          <c:txPr>
            <a:bodyPr/>
            <a:lstStyle/>
            <a:p>
              <a:pPr>
                <a:defRPr b="1" i="0" strike="noStrike" sz="14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AI assistant gives managers instant answers. We audited all 15 logged answers against the official Metric_Definitions and Business_Rules. Only 4 were fully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4 of 15 correct; 9 needed work; the largest error was a £13.3M profit overstatement at 94% confidence. The recommendation is not to stop using AI, but to put a checking layer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Verdict mix: 4 correct, 2 correct with caveat, 2 misleading, 5 wrong, 2 non-compliant. 'Misleading' and 'correct with caveat' matter: a number can be right and still not be fit for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answers averaged 93.0, wrong answers 92.6, and the two privacy breaches 98.5. The axis starts at zero on purpose: the bars look the same because the signal is the same. Confidence is never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Profit = Net Revenue minus recorded Cost, completed orders, test accounts excluded, duplicates removed = £9,616,347.60. The AI returned £22,965,866.60, which is exactly net revenue. This is a high-impact error so it goes to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 £24,314,576 minus discounts £1,348,709 equals net £22,965,867. Returned units are worth £1,159,266 at recorded prices, giving return-adjusted revenue of about £21.81M. Returns are real but second-largest.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10 spenders by net revenue, completed orders. Only C03570, C00712 and C01562 have Marketing_Consent = Yes. Consent must never be inferred from purchase behaviour (BR08). Names and emails are personal data (BR07), so the AI should only ever see Customer_ID.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Décor has the lowest total profit (£368,950) only because it is the smallest range. It has the highest margin (62.4%). 'Lowest profit' measures scale, not performance. Also AI-007: Furniture is the right answer by profit, but the AI's reason (most revenue) was invalid logic that happens to work here because revenue and profit rankings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Root causes: metric substitution, definitions not enforced, no notion of consent or personal data, correlation read as causation, and polished confidence that hid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Duplicates: all 16 fields identical; the Returns table reconciles to 5,307 units only after removal (raw lines give 5,313). It is a documented judgement to confirm with the data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as a Python validator plus an Excel workbook with live formulas, SQL queries and Power BI measures. Each takes an AI claim, recomputes it and returns PASS or FAIL. Answers stay PROVISIONAL until the validator has run. The 15 validated answers become a regression set whenever the model, prompt or data model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triggers: privacy concern or unverified consent goes to the DPO and Marketing Manager; high-impact figures to Finance; unreproducible results to the Senior Analyst; causal 'why' questions stay with the Analyst, with an A/B test proposed; close calls get a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not simply remove analyst work. About 37 of 94 weekly hours can be automated or assisted, but roughly 65% of that comes straight back as validation, governance and interpretation, leaving about 13 hours (0.35 FTE) for deeper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4 hours a week protected learning time, a senior mentor, and progression criteria linked to validation accuracy rather than report volume. Target: Validation Analyst trusted to release AI answers up to Amber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029200" cy="1828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200400"/>
            <a:ext cx="5029200" cy="1005840"/>
          </a:xfrm>
          <a:prstGeom prst="rect">
            <a:avLst/>
          </a:prstGeom>
          <a:noFill/>
          <a:ln/>
        </p:spPr>
        <p:txBody>
          <a:bodyPr wrap="square" rtlCol="0"/>
          <a:lstStyle>
            <a:lvl1pPr algn="l" indent="0" marL="0">
              <a:buNone/>
              <a:defRPr lang="en-US" sz="1400" dirty="0">
                <a:solidFill>
                  <a:srgbClr val="CBD2D9"/>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rgbClr val="5B6B7C"/>
                </a:solidFill>
              </a:rPr>
              <a:t>Kestrel Living  |  AI validation audit  |  Pod Lyra</a:t>
            </a:r>
            <a:endParaRPr lang="en-US" sz="1000" dirty="0"/>
          </a:p>
        </p:txBody>
      </p:sp>
      <p:sp>
        <p:nvSpPr>
          <p:cNvPr id="3" name="Text 1"/>
          <p:cNvSpPr/>
          <p:nvPr>
            <p:ph idx="101" type="title" hasCustomPrompt="1"/>
          </p:nvPr>
        </p:nvSpPr>
        <p:spPr>
          <a:xfrm>
            <a:off x="457200" y="274320"/>
            <a:ext cx="822960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BD2D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029200" cy="1828800"/>
          </a:xfrm>
          <a:prstGeom prst="rect">
            <a:avLst/>
          </a:prstGeom>
          <a:noFill/>
          <a:ln/>
        </p:spPr>
        <p:txBody>
          <a:bodyPr wrap="square" lIns="0" tIns="0" rIns="0" bIns="0" rtlCol="0" anchor="t"/>
          <a:lstStyle/>
          <a:p>
            <a:pPr algn="l" indent="0" marL="0">
              <a:buNone/>
            </a:pPr>
            <a:r>
              <a:rPr lang="en-US" sz="3400" b="1" dirty="0">
                <a:solidFill>
                  <a:schemeClr val="bg1"/>
                </a:solidFill>
              </a:rPr>
              <a:t>When AI writes the answer, who checks the numbers?</a:t>
            </a:r>
            <a:endParaRPr lang="en-US" sz="3400" dirty="0"/>
          </a:p>
        </p:txBody>
      </p:sp>
      <p:sp>
        <p:nvSpPr>
          <p:cNvPr id="3" name="Text 0"/>
          <p:cNvSpPr/>
          <p:nvPr>
            <p:ph idx="101" type="body" hasCustomPrompt="1"/>
          </p:nvPr>
        </p:nvSpPr>
        <p:spPr>
          <a:xfrm>
            <a:off x="548640" y="3200400"/>
            <a:ext cx="5029200" cy="1005840"/>
          </a:xfrm>
          <a:prstGeom prst="rect">
            <a:avLst/>
          </a:prstGeom>
          <a:noFill/>
          <a:ln/>
        </p:spPr>
        <p:txBody>
          <a:bodyPr wrap="square" lIns="0" tIns="0" rIns="0" bIns="0" rtlCol="0" anchor="t"/>
          <a:lstStyle/>
          <a:p>
            <a:pPr algn="l" indent="0" marL="0">
              <a:buNone/>
            </a:pPr>
            <a:r>
              <a:rPr lang="en-US" sz="1400" dirty="0">
                <a:solidFill>
                  <a:srgbClr val="CBD2D9"/>
                </a:solidFill>
              </a:rPr>
              <a:t>Auditing Kestrel Living's AI analytics assistant</a:t>
            </a:r>
            <a:endParaRPr lang="en-US" sz="1400" dirty="0"/>
          </a:p>
          <a:p>
            <a:pPr algn="l" indent="0" marL="0">
              <a:buNone/>
            </a:pPr>
            <a:r>
              <a:rPr lang="en-US" sz="1400" dirty="0">
                <a:solidFill>
                  <a:srgbClr val="CBD2D9"/>
                </a:solidFill>
              </a:rPr>
              <a:t>10Alytics Hackathon  |  Data Analytics track  |  Pod Lyra</a:t>
            </a:r>
            <a:endParaRPr lang="en-US" sz="1400" dirty="0"/>
          </a:p>
        </p:txBody>
      </p:sp>
      <p:sp>
        <p:nvSpPr>
          <p:cNvPr id="4" name="stat panel"/>
          <p:cNvSpPr/>
          <p:nvPr/>
        </p:nvSpPr>
        <p:spPr>
          <a:xfrm>
            <a:off x="5943600" y="1143000"/>
            <a:ext cx="2743200" cy="2834640"/>
          </a:xfrm>
          <a:prstGeom prst="roundRect">
            <a:avLst>
              <a:gd name="adj" fmla="val 2667"/>
            </a:avLst>
          </a:prstGeom>
          <a:solidFill>
            <a:srgbClr val="2D3A4A"/>
          </a:solidFill>
          <a:ln w="12700">
            <a:solidFill>
              <a:srgbClr val="2D3A4A"/>
            </a:solidFill>
            <a:prstDash val="solid"/>
          </a:ln>
        </p:spPr>
      </p:sp>
      <p:sp>
        <p:nvSpPr>
          <p:cNvPr id="5" name="Text 3"/>
          <p:cNvSpPr txBox="1"/>
          <p:nvPr/>
        </p:nvSpPr>
        <p:spPr>
          <a:xfrm>
            <a:off x="5943600" y="1554480"/>
            <a:ext cx="2743200" cy="822960"/>
          </a:xfrm>
          <a:prstGeom prst="rect">
            <a:avLst/>
          </a:prstGeom>
          <a:noFill/>
          <a:ln/>
        </p:spPr>
        <p:txBody>
          <a:bodyPr wrap="square" lIns="0" tIns="0" rIns="0" bIns="0" rtlCol="0" anchor="t"/>
          <a:lstStyle/>
          <a:p>
            <a:pPr algn="ctr" indent="0" marL="0">
              <a:buNone/>
            </a:pPr>
            <a:r>
              <a:rPr lang="en-US" sz="4400" b="1" dirty="0">
                <a:solidFill>
                  <a:srgbClr val="D9622B"/>
                </a:solidFill>
                <a:latin typeface="+mj-lt" pitchFamily="34" charset="0"/>
                <a:ea typeface="+mj-lt" pitchFamily="34" charset="-122"/>
                <a:cs typeface="+mj-lt" pitchFamily="34" charset="-120"/>
              </a:rPr>
              <a:t>4 of 15</a:t>
            </a:r>
            <a:endParaRPr lang="en-US" sz="4400" dirty="0"/>
          </a:p>
        </p:txBody>
      </p:sp>
      <p:sp>
        <p:nvSpPr>
          <p:cNvPr id="6" name="Text 4"/>
          <p:cNvSpPr txBox="1"/>
          <p:nvPr/>
        </p:nvSpPr>
        <p:spPr>
          <a:xfrm>
            <a:off x="6217920" y="2423160"/>
            <a:ext cx="2194560" cy="640080"/>
          </a:xfrm>
          <a:prstGeom prst="rect">
            <a:avLst/>
          </a:prstGeom>
          <a:noFill/>
          <a:ln/>
        </p:spPr>
        <p:txBody>
          <a:bodyPr wrap="square" lIns="0" tIns="0" rIns="0" bIns="0" rtlCol="0" anchor="t"/>
          <a:lstStyle/>
          <a:p>
            <a:pPr algn="ctr" indent="0" marL="0">
              <a:buNone/>
            </a:pPr>
            <a:r>
              <a:rPr lang="en-US" sz="1400" dirty="0">
                <a:solidFill>
                  <a:srgbClr val="FFFFFF"/>
                </a:solidFill>
              </a:rPr>
              <a:t>AI answers were safe to release unchanged</a:t>
            </a:r>
            <a:endParaRPr lang="en-US" sz="1400" dirty="0"/>
          </a:p>
        </p:txBody>
      </p:sp>
      <p:sp>
        <p:nvSpPr>
          <p:cNvPr id="7" name="Text 5"/>
          <p:cNvSpPr txBox="1"/>
          <p:nvPr/>
        </p:nvSpPr>
        <p:spPr>
          <a:xfrm>
            <a:off x="6217920" y="3246120"/>
            <a:ext cx="2194560" cy="457200"/>
          </a:xfrm>
          <a:prstGeom prst="rect">
            <a:avLst/>
          </a:prstGeom>
          <a:noFill/>
          <a:ln/>
        </p:spPr>
        <p:txBody>
          <a:bodyPr wrap="square" lIns="0" tIns="0" rIns="0" bIns="0" rtlCol="0" anchor="t"/>
          <a:lstStyle/>
          <a:p>
            <a:pPr algn="ctr" indent="0" marL="0">
              <a:buNone/>
            </a:pPr>
            <a:r>
              <a:rPr lang="en-US" sz="1200" dirty="0">
                <a:solidFill>
                  <a:srgbClr val="CBD2D9"/>
                </a:solidFill>
              </a:rPr>
              <a:t>Confidence on the worst one: 94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Speed is not accuracy: most AI answers needed a human</a:t>
            </a:r>
            <a:endParaRPr lang="en-US" sz="2800" dirty="0"/>
          </a:p>
        </p:txBody>
      </p:sp>
      <p:sp>
        <p:nvSpPr>
          <p:cNvPr id="3" name="stat card"/>
          <p:cNvSpPr/>
          <p:nvPr/>
        </p:nvSpPr>
        <p:spPr>
          <a:xfrm>
            <a:off x="457200" y="1325880"/>
            <a:ext cx="2587752" cy="2057400"/>
          </a:xfrm>
          <a:prstGeom prst="roundRect">
            <a:avLst>
              <a:gd name="adj" fmla="val 355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508760"/>
            <a:ext cx="2221992" cy="822960"/>
          </a:xfrm>
          <a:prstGeom prst="rect">
            <a:avLst/>
          </a:prstGeom>
          <a:noFill/>
          <a:ln/>
        </p:spPr>
        <p:txBody>
          <a:bodyPr wrap="square" lIns="0" tIns="0" rIns="0" bIns="0" rtlCol="0" anchor="t"/>
          <a:lstStyle/>
          <a:p>
            <a:pPr indent="0" marL="0">
              <a:buNone/>
            </a:pPr>
            <a:r>
              <a:rPr lang="en-US" sz="4400" b="1" dirty="0">
                <a:solidFill>
                  <a:srgbClr val="2A9D8F"/>
                </a:solidFill>
                <a:latin typeface="+mj-lt" pitchFamily="34" charset="0"/>
                <a:ea typeface="+mj-lt" pitchFamily="34" charset="-122"/>
                <a:cs typeface="+mj-lt" pitchFamily="34" charset="-120"/>
              </a:rPr>
              <a:t>27%</a:t>
            </a:r>
            <a:endParaRPr lang="en-US" sz="4400" dirty="0"/>
          </a:p>
        </p:txBody>
      </p:sp>
      <p:sp>
        <p:nvSpPr>
          <p:cNvPr id="5" name="Text 3"/>
          <p:cNvSpPr txBox="1"/>
          <p:nvPr/>
        </p:nvSpPr>
        <p:spPr>
          <a:xfrm>
            <a:off x="640080" y="2377440"/>
            <a:ext cx="2221992" cy="914400"/>
          </a:xfrm>
          <a:prstGeom prst="rect">
            <a:avLst/>
          </a:prstGeom>
          <a:noFill/>
          <a:ln/>
        </p:spPr>
        <p:txBody>
          <a:bodyPr wrap="square" lIns="0" tIns="0" rIns="0" bIns="0" rtlCol="0" anchor="t"/>
          <a:lstStyle/>
          <a:p>
            <a:pPr indent="0" marL="0">
              <a:buNone/>
            </a:pPr>
            <a:r>
              <a:rPr lang="en-US" sz="1400" dirty="0">
                <a:solidFill>
                  <a:srgbClr val="1B2430"/>
                </a:solidFill>
              </a:rPr>
              <a:t>of answers (4 of 15) were fully correct and safe to release unchanged</a:t>
            </a:r>
            <a:endParaRPr lang="en-US" sz="1400" dirty="0"/>
          </a:p>
        </p:txBody>
      </p:sp>
      <p:sp>
        <p:nvSpPr>
          <p:cNvPr id="6" name="stat card"/>
          <p:cNvSpPr/>
          <p:nvPr/>
        </p:nvSpPr>
        <p:spPr>
          <a:xfrm>
            <a:off x="3273552" y="1325880"/>
            <a:ext cx="2587752" cy="2057400"/>
          </a:xfrm>
          <a:prstGeom prst="roundRect">
            <a:avLst>
              <a:gd name="adj" fmla="val 355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456432" y="1508760"/>
            <a:ext cx="2221992" cy="822960"/>
          </a:xfrm>
          <a:prstGeom prst="rect">
            <a:avLst/>
          </a:prstGeom>
          <a:noFill/>
          <a:ln/>
        </p:spPr>
        <p:txBody>
          <a:bodyPr wrap="square" lIns="0" tIns="0" rIns="0" bIns="0" rtlCol="0" anchor="t"/>
          <a:lstStyle/>
          <a:p>
            <a:pPr indent="0" marL="0">
              <a:buNone/>
            </a:pPr>
            <a:r>
              <a:rPr lang="en-US" sz="4400" b="1" dirty="0">
                <a:solidFill>
                  <a:srgbClr val="D9622B"/>
                </a:solidFill>
                <a:latin typeface="+mj-lt" pitchFamily="34" charset="0"/>
                <a:ea typeface="+mj-lt" pitchFamily="34" charset="-122"/>
                <a:cs typeface="+mj-lt" pitchFamily="34" charset="-120"/>
              </a:rPr>
              <a:t>60%</a:t>
            </a:r>
            <a:endParaRPr lang="en-US" sz="4400" dirty="0"/>
          </a:p>
        </p:txBody>
      </p:sp>
      <p:sp>
        <p:nvSpPr>
          <p:cNvPr id="8" name="Text 6"/>
          <p:cNvSpPr txBox="1"/>
          <p:nvPr/>
        </p:nvSpPr>
        <p:spPr>
          <a:xfrm>
            <a:off x="3456432" y="2377440"/>
            <a:ext cx="2221992" cy="914400"/>
          </a:xfrm>
          <a:prstGeom prst="rect">
            <a:avLst/>
          </a:prstGeom>
          <a:noFill/>
          <a:ln/>
        </p:spPr>
        <p:txBody>
          <a:bodyPr wrap="square" lIns="0" tIns="0" rIns="0" bIns="0" rtlCol="0" anchor="t"/>
          <a:lstStyle/>
          <a:p>
            <a:pPr indent="0" marL="0">
              <a:buNone/>
            </a:pPr>
            <a:r>
              <a:rPr lang="en-US" sz="1400" dirty="0">
                <a:solidFill>
                  <a:srgbClr val="1B2430"/>
                </a:solidFill>
              </a:rPr>
              <a:t>(9 of 15) needed correction, reframing or blocking</a:t>
            </a:r>
            <a:endParaRPr lang="en-US" sz="1400" dirty="0"/>
          </a:p>
        </p:txBody>
      </p:sp>
      <p:sp>
        <p:nvSpPr>
          <p:cNvPr id="9" name="stat card"/>
          <p:cNvSpPr/>
          <p:nvPr/>
        </p:nvSpPr>
        <p:spPr>
          <a:xfrm>
            <a:off x="6089904" y="1325880"/>
            <a:ext cx="2587752" cy="2057400"/>
          </a:xfrm>
          <a:prstGeom prst="roundRect">
            <a:avLst>
              <a:gd name="adj" fmla="val 355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272784" y="1508760"/>
            <a:ext cx="2221992" cy="822960"/>
          </a:xfrm>
          <a:prstGeom prst="rect">
            <a:avLst/>
          </a:prstGeom>
          <a:noFill/>
          <a:ln/>
        </p:spPr>
        <p:txBody>
          <a:bodyPr wrap="square" lIns="0" tIns="0" rIns="0" bIns="0" rtlCol="0" anchor="t"/>
          <a:lstStyle/>
          <a:p>
            <a:pPr indent="0" marL="0">
              <a:buNone/>
            </a:pPr>
            <a:r>
              <a:rPr lang="en-US" sz="4400" b="1" dirty="0">
                <a:solidFill>
                  <a:srgbClr val="D9622B"/>
                </a:solidFill>
                <a:latin typeface="+mj-lt" pitchFamily="34" charset="0"/>
                <a:ea typeface="+mj-lt" pitchFamily="34" charset="-122"/>
                <a:cs typeface="+mj-lt" pitchFamily="34" charset="-120"/>
              </a:rPr>
              <a:t>£13.3M</a:t>
            </a:r>
            <a:endParaRPr lang="en-US" sz="4400" dirty="0"/>
          </a:p>
        </p:txBody>
      </p:sp>
      <p:sp>
        <p:nvSpPr>
          <p:cNvPr id="11" name="Text 9"/>
          <p:cNvSpPr txBox="1"/>
          <p:nvPr/>
        </p:nvSpPr>
        <p:spPr>
          <a:xfrm>
            <a:off x="6272784" y="2377440"/>
            <a:ext cx="2221992" cy="914400"/>
          </a:xfrm>
          <a:prstGeom prst="rect">
            <a:avLst/>
          </a:prstGeom>
          <a:noFill/>
          <a:ln/>
        </p:spPr>
        <p:txBody>
          <a:bodyPr wrap="square" lIns="0" tIns="0" rIns="0" bIns="0" rtlCol="0" anchor="t"/>
          <a:lstStyle/>
          <a:p>
            <a:pPr indent="0" marL="0">
              <a:buNone/>
            </a:pPr>
            <a:r>
              <a:rPr lang="en-US" sz="1400" dirty="0">
                <a:solidFill>
                  <a:srgbClr val="1B2430"/>
                </a:solidFill>
              </a:rPr>
              <a:t>profit overstatement, delivered at 94% confidence</a:t>
            </a:r>
            <a:endParaRPr lang="en-US" sz="1400" dirty="0"/>
          </a:p>
        </p:txBody>
      </p:sp>
      <p:sp>
        <p:nvSpPr>
          <p:cNvPr id="12" name="recommendation banner"/>
          <p:cNvSpPr/>
          <p:nvPr/>
        </p:nvSpPr>
        <p:spPr>
          <a:xfrm>
            <a:off x="457200" y="3611880"/>
            <a:ext cx="8229600" cy="960120"/>
          </a:xfrm>
          <a:prstGeom prst="roundRect">
            <a:avLst>
              <a:gd name="adj" fmla="val 7619"/>
            </a:avLst>
          </a:prstGeom>
          <a:solidFill>
            <a:srgbClr val="1B2430"/>
          </a:solidFill>
          <a:ln w="12700">
            <a:solidFill>
              <a:srgbClr val="1B2430"/>
            </a:solidFill>
            <a:prstDash val="solid"/>
          </a:ln>
        </p:spPr>
      </p:sp>
      <p:sp>
        <p:nvSpPr>
          <p:cNvPr id="13" name="Text 11"/>
          <p:cNvSpPr txBox="1"/>
          <p:nvPr/>
        </p:nvSpPr>
        <p:spPr>
          <a:xfrm>
            <a:off x="731520" y="3703320"/>
            <a:ext cx="7680960" cy="777240"/>
          </a:xfrm>
          <a:prstGeom prst="rect">
            <a:avLst/>
          </a:prstGeom>
          <a:noFill/>
          <a:ln/>
        </p:spPr>
        <p:txBody>
          <a:bodyPr wrap="square" lIns="0" tIns="0" rIns="0" bIns="0" rtlCol="0" anchor="ctr"/>
          <a:lstStyle/>
          <a:p>
            <a:pPr indent="0" marL="0">
              <a:buNone/>
            </a:pPr>
            <a:r>
              <a:rPr lang="en-US" sz="1600" dirty="0">
                <a:solidFill>
                  <a:srgbClr val="FFFFFF"/>
                </a:solidFill>
              </a:rPr>
              <a:t>Keep using AI for speed, but never release an answer without an automated recomputation, a verdict and a named human owner.</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Nine of fifteen answers needed correction, reframing or blocking</a:t>
            </a:r>
            <a:endParaRPr lang="en-US" sz="2800" dirty="0"/>
          </a:p>
        </p:txBody>
      </p:sp>
      <p:graphicFrame>
        <p:nvGraphicFramePr>
          <p:cNvPr id="3" name="Chart 0" descr=""/>
          <p:cNvGraphicFramePr/>
          <p:nvPr/>
        </p:nvGraphicFramePr>
        <p:xfrm>
          <a:off x="365760" y="1234440"/>
          <a:ext cx="38404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1737360" y="2606040"/>
            <a:ext cx="1097280" cy="502920"/>
          </a:xfrm>
          <a:prstGeom prst="rect">
            <a:avLst/>
          </a:prstGeom>
          <a:noFill/>
          <a:ln/>
        </p:spPr>
        <p:txBody>
          <a:bodyPr wrap="square" lIns="0" tIns="0" rIns="0" bIns="0" rtlCol="0" anchor="t"/>
          <a:lstStyle/>
          <a:p>
            <a:pPr algn="ctr" indent="0" marL="0">
              <a:buNone/>
            </a:pPr>
            <a:r>
              <a:rPr lang="en-US" sz="3200" b="1" dirty="0">
                <a:solidFill>
                  <a:srgbClr val="1B2430"/>
                </a:solidFill>
                <a:latin typeface="+mj-lt" pitchFamily="34" charset="0"/>
                <a:ea typeface="+mj-lt" pitchFamily="34" charset="-122"/>
                <a:cs typeface="+mj-lt" pitchFamily="34" charset="-120"/>
              </a:rPr>
              <a:t>15</a:t>
            </a:r>
            <a:endParaRPr lang="en-US" sz="3200" dirty="0"/>
          </a:p>
        </p:txBody>
      </p:sp>
      <p:sp>
        <p:nvSpPr>
          <p:cNvPr id="5" name="Text 2"/>
          <p:cNvSpPr txBox="1"/>
          <p:nvPr/>
        </p:nvSpPr>
        <p:spPr>
          <a:xfrm>
            <a:off x="1737360" y="3108960"/>
            <a:ext cx="1097280" cy="274320"/>
          </a:xfrm>
          <a:prstGeom prst="rect">
            <a:avLst/>
          </a:prstGeom>
          <a:noFill/>
          <a:ln/>
        </p:spPr>
        <p:txBody>
          <a:bodyPr wrap="square" lIns="0" tIns="0" rIns="0" bIns="0" rtlCol="0" anchor="t"/>
          <a:lstStyle/>
          <a:p>
            <a:pPr algn="ctr" indent="0" marL="0">
              <a:buNone/>
            </a:pPr>
            <a:r>
              <a:rPr lang="en-US" sz="1200" dirty="0">
                <a:solidFill>
                  <a:srgbClr val="5B6B7C"/>
                </a:solidFill>
              </a:rPr>
              <a:t>answers</a:t>
            </a:r>
            <a:endParaRPr lang="en-US" sz="1200" dirty="0"/>
          </a:p>
        </p:txBody>
      </p:sp>
      <p:sp>
        <p:nvSpPr>
          <p:cNvPr id="6" name="verdict dot"/>
          <p:cNvSpPr/>
          <p:nvPr/>
        </p:nvSpPr>
        <p:spPr>
          <a:xfrm>
            <a:off x="4572000" y="1399032"/>
            <a:ext cx="274320" cy="274320"/>
          </a:xfrm>
          <a:prstGeom prst="ellipse">
            <a:avLst/>
          </a:prstGeom>
          <a:solidFill>
            <a:srgbClr val="2A9D8F"/>
          </a:solidFill>
          <a:ln w="12700">
            <a:solidFill>
              <a:srgbClr val="2A9D8F"/>
            </a:solidFill>
            <a:prstDash val="solid"/>
          </a:ln>
        </p:spPr>
      </p:sp>
      <p:sp>
        <p:nvSpPr>
          <p:cNvPr id="7" name="Text 4"/>
          <p:cNvSpPr txBox="1"/>
          <p:nvPr/>
        </p:nvSpPr>
        <p:spPr>
          <a:xfrm>
            <a:off x="5029200" y="1325880"/>
            <a:ext cx="3657600" cy="274320"/>
          </a:xfrm>
          <a:prstGeom prst="rect">
            <a:avLst/>
          </a:prstGeom>
          <a:noFill/>
          <a:ln/>
        </p:spPr>
        <p:txBody>
          <a:bodyPr wrap="square" lIns="0" tIns="0" rIns="0" bIns="0" rtlCol="0" anchor="t"/>
          <a:lstStyle/>
          <a:p>
            <a:pPr indent="0" marL="0">
              <a:buNone/>
            </a:pPr>
            <a:r>
              <a:rPr lang="en-US" sz="1600" b="1" dirty="0">
                <a:solidFill>
                  <a:srgbClr val="1B2430"/>
                </a:solidFill>
              </a:rPr>
              <a:t>Correct</a:t>
            </a:r>
            <a:pPr indent="0" marL="0">
              <a:buNone/>
            </a:pPr>
            <a:r>
              <a:rPr lang="en-US" sz="1600" b="1" dirty="0">
                <a:solidFill>
                  <a:srgbClr val="D9622B"/>
                </a:solidFill>
              </a:rPr>
              <a:t>   4</a:t>
            </a:r>
            <a:endParaRPr lang="en-US" sz="1600" dirty="0"/>
          </a:p>
        </p:txBody>
      </p:sp>
      <p:sp>
        <p:nvSpPr>
          <p:cNvPr id="8" name="Text 5"/>
          <p:cNvSpPr txBox="1"/>
          <p:nvPr/>
        </p:nvSpPr>
        <p:spPr>
          <a:xfrm>
            <a:off x="5029200" y="1600200"/>
            <a:ext cx="3657600" cy="274320"/>
          </a:xfrm>
          <a:prstGeom prst="rect">
            <a:avLst/>
          </a:prstGeom>
          <a:noFill/>
          <a:ln/>
        </p:spPr>
        <p:txBody>
          <a:bodyPr wrap="square" lIns="0" tIns="0" rIns="0" bIns="0" rtlCol="0" anchor="t"/>
          <a:lstStyle/>
          <a:p>
            <a:pPr indent="0" marL="0">
              <a:buNone/>
            </a:pPr>
            <a:r>
              <a:rPr lang="en-US" sz="1200" dirty="0">
                <a:solidFill>
                  <a:srgbClr val="5B6B7C"/>
                </a:solidFill>
              </a:rPr>
              <a:t>AI-001, 002, 003, 005  |  Safe to release, sampled QA</a:t>
            </a:r>
            <a:endParaRPr lang="en-US" sz="1200" dirty="0"/>
          </a:p>
        </p:txBody>
      </p:sp>
      <p:sp>
        <p:nvSpPr>
          <p:cNvPr id="9" name="verdict dot"/>
          <p:cNvSpPr/>
          <p:nvPr/>
        </p:nvSpPr>
        <p:spPr>
          <a:xfrm>
            <a:off x="4572000" y="2057400"/>
            <a:ext cx="274320" cy="274320"/>
          </a:xfrm>
          <a:prstGeom prst="ellipse">
            <a:avLst/>
          </a:prstGeom>
          <a:solidFill>
            <a:srgbClr val="8CCFC4"/>
          </a:solidFill>
          <a:ln w="12700">
            <a:solidFill>
              <a:srgbClr val="8CCFC4"/>
            </a:solidFill>
            <a:prstDash val="solid"/>
          </a:ln>
        </p:spPr>
      </p:sp>
      <p:sp>
        <p:nvSpPr>
          <p:cNvPr id="10" name="Text 7"/>
          <p:cNvSpPr txBox="1"/>
          <p:nvPr/>
        </p:nvSpPr>
        <p:spPr>
          <a:xfrm>
            <a:off x="5029200" y="1984248"/>
            <a:ext cx="3657600" cy="274320"/>
          </a:xfrm>
          <a:prstGeom prst="rect">
            <a:avLst/>
          </a:prstGeom>
          <a:noFill/>
          <a:ln/>
        </p:spPr>
        <p:txBody>
          <a:bodyPr wrap="square" lIns="0" tIns="0" rIns="0" bIns="0" rtlCol="0" anchor="t"/>
          <a:lstStyle/>
          <a:p>
            <a:pPr indent="0" marL="0">
              <a:buNone/>
            </a:pPr>
            <a:r>
              <a:rPr lang="en-US" sz="1600" b="1" dirty="0">
                <a:solidFill>
                  <a:srgbClr val="1B2430"/>
                </a:solidFill>
              </a:rPr>
              <a:t>Correct, with caveat</a:t>
            </a:r>
            <a:pPr indent="0" marL="0">
              <a:buNone/>
            </a:pPr>
            <a:r>
              <a:rPr lang="en-US" sz="1600" b="1" dirty="0">
                <a:solidFill>
                  <a:srgbClr val="D9622B"/>
                </a:solidFill>
              </a:rPr>
              <a:t>   2</a:t>
            </a:r>
            <a:endParaRPr lang="en-US" sz="1600" dirty="0"/>
          </a:p>
        </p:txBody>
      </p:sp>
      <p:sp>
        <p:nvSpPr>
          <p:cNvPr id="11" name="Text 8"/>
          <p:cNvSpPr txBox="1"/>
          <p:nvPr/>
        </p:nvSpPr>
        <p:spPr>
          <a:xfrm>
            <a:off x="5029200" y="2258568"/>
            <a:ext cx="3657600" cy="274320"/>
          </a:xfrm>
          <a:prstGeom prst="rect">
            <a:avLst/>
          </a:prstGeom>
          <a:noFill/>
          <a:ln/>
        </p:spPr>
        <p:txBody>
          <a:bodyPr wrap="square" lIns="0" tIns="0" rIns="0" bIns="0" rtlCol="0" anchor="t"/>
          <a:lstStyle/>
          <a:p>
            <a:pPr indent="0" marL="0">
              <a:buNone/>
            </a:pPr>
            <a:r>
              <a:rPr lang="en-US" sz="1200" dirty="0">
                <a:solidFill>
                  <a:srgbClr val="5B6B7C"/>
                </a:solidFill>
              </a:rPr>
              <a:t>AI-006, 009  |  Right number, thin evidence</a:t>
            </a:r>
            <a:endParaRPr lang="en-US" sz="1200" dirty="0"/>
          </a:p>
        </p:txBody>
      </p:sp>
      <p:sp>
        <p:nvSpPr>
          <p:cNvPr id="12" name="verdict dot"/>
          <p:cNvSpPr/>
          <p:nvPr/>
        </p:nvSpPr>
        <p:spPr>
          <a:xfrm>
            <a:off x="4572000" y="2715768"/>
            <a:ext cx="274320" cy="274320"/>
          </a:xfrm>
          <a:prstGeom prst="ellipse">
            <a:avLst/>
          </a:prstGeom>
          <a:solidFill>
            <a:srgbClr val="E9A23B"/>
          </a:solidFill>
          <a:ln w="12700">
            <a:solidFill>
              <a:srgbClr val="E9A23B"/>
            </a:solidFill>
            <a:prstDash val="solid"/>
          </a:ln>
        </p:spPr>
      </p:sp>
      <p:sp>
        <p:nvSpPr>
          <p:cNvPr id="13" name="Text 10"/>
          <p:cNvSpPr txBox="1"/>
          <p:nvPr/>
        </p:nvSpPr>
        <p:spPr>
          <a:xfrm>
            <a:off x="5029200" y="2642616"/>
            <a:ext cx="3657600" cy="274320"/>
          </a:xfrm>
          <a:prstGeom prst="rect">
            <a:avLst/>
          </a:prstGeom>
          <a:noFill/>
          <a:ln/>
        </p:spPr>
        <p:txBody>
          <a:bodyPr wrap="square" lIns="0" tIns="0" rIns="0" bIns="0" rtlCol="0" anchor="t"/>
          <a:lstStyle/>
          <a:p>
            <a:pPr indent="0" marL="0">
              <a:buNone/>
            </a:pPr>
            <a:r>
              <a:rPr lang="en-US" sz="1600" b="1" dirty="0">
                <a:solidFill>
                  <a:srgbClr val="1B2430"/>
                </a:solidFill>
              </a:rPr>
              <a:t>Misleading</a:t>
            </a:r>
            <a:pPr indent="0" marL="0">
              <a:buNone/>
            </a:pPr>
            <a:r>
              <a:rPr lang="en-US" sz="1600" b="1" dirty="0">
                <a:solidFill>
                  <a:srgbClr val="D9622B"/>
                </a:solidFill>
              </a:rPr>
              <a:t>   2</a:t>
            </a:r>
            <a:endParaRPr lang="en-US" sz="1600" dirty="0"/>
          </a:p>
        </p:txBody>
      </p:sp>
      <p:sp>
        <p:nvSpPr>
          <p:cNvPr id="14" name="Text 11"/>
          <p:cNvSpPr txBox="1"/>
          <p:nvPr/>
        </p:nvSpPr>
        <p:spPr>
          <a:xfrm>
            <a:off x="5029200" y="2916936"/>
            <a:ext cx="3657600" cy="274320"/>
          </a:xfrm>
          <a:prstGeom prst="rect">
            <a:avLst/>
          </a:prstGeom>
          <a:noFill/>
          <a:ln/>
        </p:spPr>
        <p:txBody>
          <a:bodyPr wrap="square" lIns="0" tIns="0" rIns="0" bIns="0" rtlCol="0" anchor="t"/>
          <a:lstStyle/>
          <a:p>
            <a:pPr indent="0" marL="0">
              <a:buNone/>
            </a:pPr>
            <a:r>
              <a:rPr lang="en-US" sz="1200" dirty="0">
                <a:solidFill>
                  <a:srgbClr val="5B6B7C"/>
                </a:solidFill>
              </a:rPr>
              <a:t>AI-007, 013  |  True, but the logic misleads</a:t>
            </a:r>
            <a:endParaRPr lang="en-US" sz="1200" dirty="0"/>
          </a:p>
        </p:txBody>
      </p:sp>
      <p:sp>
        <p:nvSpPr>
          <p:cNvPr id="15" name="verdict dot"/>
          <p:cNvSpPr/>
          <p:nvPr/>
        </p:nvSpPr>
        <p:spPr>
          <a:xfrm>
            <a:off x="4572000" y="3374136"/>
            <a:ext cx="274320" cy="274320"/>
          </a:xfrm>
          <a:prstGeom prst="ellipse">
            <a:avLst/>
          </a:prstGeom>
          <a:solidFill>
            <a:srgbClr val="C0392B"/>
          </a:solidFill>
          <a:ln w="12700">
            <a:solidFill>
              <a:srgbClr val="C0392B"/>
            </a:solidFill>
            <a:prstDash val="solid"/>
          </a:ln>
        </p:spPr>
      </p:sp>
      <p:sp>
        <p:nvSpPr>
          <p:cNvPr id="16" name="Text 13"/>
          <p:cNvSpPr txBox="1"/>
          <p:nvPr/>
        </p:nvSpPr>
        <p:spPr>
          <a:xfrm>
            <a:off x="5029200" y="3300984"/>
            <a:ext cx="3657600" cy="274320"/>
          </a:xfrm>
          <a:prstGeom prst="rect">
            <a:avLst/>
          </a:prstGeom>
          <a:noFill/>
          <a:ln/>
        </p:spPr>
        <p:txBody>
          <a:bodyPr wrap="square" lIns="0" tIns="0" rIns="0" bIns="0" rtlCol="0" anchor="t"/>
          <a:lstStyle/>
          <a:p>
            <a:pPr indent="0" marL="0">
              <a:buNone/>
            </a:pPr>
            <a:r>
              <a:rPr lang="en-US" sz="1600" b="1" dirty="0">
                <a:solidFill>
                  <a:srgbClr val="1B2430"/>
                </a:solidFill>
              </a:rPr>
              <a:t>Wrong</a:t>
            </a:r>
            <a:pPr indent="0" marL="0">
              <a:buNone/>
            </a:pPr>
            <a:r>
              <a:rPr lang="en-US" sz="1600" b="1" dirty="0">
                <a:solidFill>
                  <a:srgbClr val="D9622B"/>
                </a:solidFill>
              </a:rPr>
              <a:t>   5</a:t>
            </a:r>
            <a:endParaRPr lang="en-US" sz="1600" dirty="0"/>
          </a:p>
        </p:txBody>
      </p:sp>
      <p:sp>
        <p:nvSpPr>
          <p:cNvPr id="17" name="Text 14"/>
          <p:cNvSpPr txBox="1"/>
          <p:nvPr/>
        </p:nvSpPr>
        <p:spPr>
          <a:xfrm>
            <a:off x="5029200" y="3575304"/>
            <a:ext cx="3657600" cy="274320"/>
          </a:xfrm>
          <a:prstGeom prst="rect">
            <a:avLst/>
          </a:prstGeom>
          <a:noFill/>
          <a:ln/>
        </p:spPr>
        <p:txBody>
          <a:bodyPr wrap="square" lIns="0" tIns="0" rIns="0" bIns="0" rtlCol="0" anchor="t"/>
          <a:lstStyle/>
          <a:p>
            <a:pPr indent="0" marL="0">
              <a:buNone/>
            </a:pPr>
            <a:r>
              <a:rPr lang="en-US" sz="1200" dirty="0">
                <a:solidFill>
                  <a:srgbClr val="5B6B7C"/>
                </a:solidFill>
              </a:rPr>
              <a:t>AI-004, 008, 010, 012, 014  |  Contradicts data or definition</a:t>
            </a:r>
            <a:endParaRPr lang="en-US" sz="1200" dirty="0"/>
          </a:p>
        </p:txBody>
      </p:sp>
      <p:sp>
        <p:nvSpPr>
          <p:cNvPr id="18" name="verdict dot"/>
          <p:cNvSpPr/>
          <p:nvPr/>
        </p:nvSpPr>
        <p:spPr>
          <a:xfrm>
            <a:off x="4572000" y="4032504"/>
            <a:ext cx="274320" cy="274320"/>
          </a:xfrm>
          <a:prstGeom prst="ellipse">
            <a:avLst/>
          </a:prstGeom>
          <a:solidFill>
            <a:srgbClr val="2D3A4A"/>
          </a:solidFill>
          <a:ln w="12700">
            <a:solidFill>
              <a:srgbClr val="2D3A4A"/>
            </a:solidFill>
            <a:prstDash val="solid"/>
          </a:ln>
        </p:spPr>
      </p:sp>
      <p:sp>
        <p:nvSpPr>
          <p:cNvPr id="19" name="Text 16"/>
          <p:cNvSpPr txBox="1"/>
          <p:nvPr/>
        </p:nvSpPr>
        <p:spPr>
          <a:xfrm>
            <a:off x="5029200" y="3959352"/>
            <a:ext cx="3657600" cy="274320"/>
          </a:xfrm>
          <a:prstGeom prst="rect">
            <a:avLst/>
          </a:prstGeom>
          <a:noFill/>
          <a:ln/>
        </p:spPr>
        <p:txBody>
          <a:bodyPr wrap="square" lIns="0" tIns="0" rIns="0" bIns="0" rtlCol="0" anchor="t"/>
          <a:lstStyle/>
          <a:p>
            <a:pPr indent="0" marL="0">
              <a:buNone/>
            </a:pPr>
            <a:r>
              <a:rPr lang="en-US" sz="1600" b="1" dirty="0">
                <a:solidFill>
                  <a:srgbClr val="1B2430"/>
                </a:solidFill>
              </a:rPr>
              <a:t>Non-compliant</a:t>
            </a:r>
            <a:pPr indent="0" marL="0">
              <a:buNone/>
            </a:pPr>
            <a:r>
              <a:rPr lang="en-US" sz="1600" b="1" dirty="0">
                <a:solidFill>
                  <a:srgbClr val="D9622B"/>
                </a:solidFill>
              </a:rPr>
              <a:t>   2</a:t>
            </a:r>
            <a:endParaRPr lang="en-US" sz="1600" dirty="0"/>
          </a:p>
        </p:txBody>
      </p:sp>
      <p:sp>
        <p:nvSpPr>
          <p:cNvPr id="20" name="Text 17"/>
          <p:cNvSpPr txBox="1"/>
          <p:nvPr/>
        </p:nvSpPr>
        <p:spPr>
          <a:xfrm>
            <a:off x="5029200" y="4233672"/>
            <a:ext cx="3657600" cy="274320"/>
          </a:xfrm>
          <a:prstGeom prst="rect">
            <a:avLst/>
          </a:prstGeom>
          <a:noFill/>
          <a:ln/>
        </p:spPr>
        <p:txBody>
          <a:bodyPr wrap="square" lIns="0" tIns="0" rIns="0" bIns="0" rtlCol="0" anchor="t"/>
          <a:lstStyle/>
          <a:p>
            <a:pPr indent="0" marL="0">
              <a:buNone/>
            </a:pPr>
            <a:r>
              <a:rPr lang="en-US" sz="1200" dirty="0">
                <a:solidFill>
                  <a:srgbClr val="5B6B7C"/>
                </a:solidFill>
              </a:rPr>
              <a:t>AI-011, 015  |  Privacy and consent breaches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Confidence scores cannot tell right from wrong</a:t>
            </a:r>
            <a:endParaRPr lang="en-US" sz="2800" dirty="0"/>
          </a:p>
        </p:txBody>
      </p:sp>
      <p:graphicFrame>
        <p:nvGraphicFramePr>
          <p:cNvPr id="3" name="Chart 0" descr=""/>
          <p:cNvGraphicFramePr/>
          <p:nvPr/>
        </p:nvGraphicFramePr>
        <p:xfrm>
          <a:off x="457200" y="128016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4" name="stat card"/>
          <p:cNvSpPr/>
          <p:nvPr/>
        </p:nvSpPr>
        <p:spPr>
          <a:xfrm>
            <a:off x="5760720" y="1325880"/>
            <a:ext cx="2926080" cy="1600200"/>
          </a:xfrm>
          <a:prstGeom prst="roundRect">
            <a:avLst>
              <a:gd name="adj" fmla="val 4571"/>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943600" y="1463040"/>
            <a:ext cx="2560320" cy="685800"/>
          </a:xfrm>
          <a:prstGeom prst="rect">
            <a:avLst/>
          </a:prstGeom>
          <a:noFill/>
          <a:ln/>
        </p:spPr>
        <p:txBody>
          <a:bodyPr wrap="square" lIns="0" tIns="0" rIns="0" bIns="0" rtlCol="0" anchor="t"/>
          <a:lstStyle/>
          <a:p>
            <a:pPr indent="0" marL="0">
              <a:buNone/>
            </a:pPr>
            <a:r>
              <a:rPr lang="en-US" sz="4000" b="1" dirty="0">
                <a:solidFill>
                  <a:srgbClr val="D9622B"/>
                </a:solidFill>
                <a:latin typeface="+mj-lt" pitchFamily="34" charset="0"/>
                <a:ea typeface="+mj-lt" pitchFamily="34" charset="-122"/>
                <a:cs typeface="+mj-lt" pitchFamily="34" charset="-120"/>
              </a:rPr>
              <a:t>7 of 12</a:t>
            </a:r>
            <a:endParaRPr lang="en-US" sz="4000" dirty="0"/>
          </a:p>
        </p:txBody>
      </p:sp>
      <p:sp>
        <p:nvSpPr>
          <p:cNvPr id="6" name="Text 3"/>
          <p:cNvSpPr txBox="1"/>
          <p:nvPr/>
        </p:nvSpPr>
        <p:spPr>
          <a:xfrm>
            <a:off x="5943600" y="2148840"/>
            <a:ext cx="2560320" cy="731520"/>
          </a:xfrm>
          <a:prstGeom prst="rect">
            <a:avLst/>
          </a:prstGeom>
          <a:noFill/>
          <a:ln/>
        </p:spPr>
        <p:txBody>
          <a:bodyPr wrap="square" lIns="0" tIns="0" rIns="0" bIns="0" rtlCol="0" anchor="t"/>
          <a:lstStyle/>
          <a:p>
            <a:pPr indent="0" marL="0">
              <a:buNone/>
            </a:pPr>
            <a:r>
              <a:rPr lang="en-US" sz="1300" dirty="0">
                <a:solidFill>
                  <a:srgbClr val="1B2430"/>
                </a:solidFill>
              </a:rPr>
              <a:t>answers scoring 90 or above were wrong, misleading or non-compliant</a:t>
            </a:r>
            <a:endParaRPr lang="en-US" sz="1300" dirty="0"/>
          </a:p>
        </p:txBody>
      </p:sp>
      <p:sp>
        <p:nvSpPr>
          <p:cNvPr id="7" name="callout card"/>
          <p:cNvSpPr/>
          <p:nvPr/>
        </p:nvSpPr>
        <p:spPr>
          <a:xfrm>
            <a:off x="5760720" y="3108960"/>
            <a:ext cx="2926080" cy="1463040"/>
          </a:xfrm>
          <a:prstGeom prst="roundRect">
            <a:avLst>
              <a:gd name="adj" fmla="val 5000"/>
            </a:avLst>
          </a:prstGeom>
          <a:solidFill>
            <a:srgbClr val="1B2430"/>
          </a:solidFill>
          <a:ln w="12700">
            <a:solidFill>
              <a:srgbClr val="1B2430"/>
            </a:solidFill>
            <a:prstDash val="solid"/>
          </a:ln>
        </p:spPr>
      </p:sp>
      <p:sp>
        <p:nvSpPr>
          <p:cNvPr id="8" name="Text 5"/>
          <p:cNvSpPr txBox="1"/>
          <p:nvPr/>
        </p:nvSpPr>
        <p:spPr>
          <a:xfrm>
            <a:off x="5943600" y="3200400"/>
            <a:ext cx="2560320" cy="1280160"/>
          </a:xfrm>
          <a:prstGeom prst="rect">
            <a:avLst/>
          </a:prstGeom>
          <a:noFill/>
          <a:ln/>
        </p:spPr>
        <p:txBody>
          <a:bodyPr wrap="square" lIns="0" tIns="0" rIns="0" bIns="0" rtlCol="0" anchor="ctr"/>
          <a:lstStyle/>
          <a:p>
            <a:pPr indent="0" marL="0">
              <a:buNone/>
            </a:pPr>
            <a:r>
              <a:rPr lang="en-US" sz="1300" dirty="0">
                <a:solidFill>
                  <a:srgbClr val="FFFFFF"/>
                </a:solidFill>
              </a:rPr>
              <a:t>AI-015 asked for names and emails scored 99, the highest in the log. Highest confidence meant highest risk.</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AI-012: revenue was reported as profit, £13.3M wrong at 94% confidence</a:t>
            </a:r>
            <a:endParaRPr lang="en-US" sz="2800" dirty="0"/>
          </a:p>
        </p:txBody>
      </p:sp>
      <p:graphicFrame>
        <p:nvGraphicFramePr>
          <p:cNvPr id="3" name="Chart 0" descr=""/>
          <p:cNvGraphicFramePr/>
          <p:nvPr/>
        </p:nvGraphicFramePr>
        <p:xfrm>
          <a:off x="457200" y="128016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4" name="stat row"/>
          <p:cNvSpPr/>
          <p:nvPr/>
        </p:nvSpPr>
        <p:spPr>
          <a:xfrm>
            <a:off x="5029200" y="1325880"/>
            <a:ext cx="3657600" cy="822960"/>
          </a:xfrm>
          <a:prstGeom prst="roundRect">
            <a:avLst>
              <a:gd name="adj" fmla="val 888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212080" y="1399032"/>
            <a:ext cx="3291840" cy="411480"/>
          </a:xfrm>
          <a:prstGeom prst="rect">
            <a:avLst/>
          </a:prstGeom>
          <a:noFill/>
          <a:ln/>
        </p:spPr>
        <p:txBody>
          <a:bodyPr wrap="square" lIns="0" tIns="0" rIns="0" bIns="0" rtlCol="0" anchor="t"/>
          <a:lstStyle/>
          <a:p>
            <a:pPr indent="0" marL="0">
              <a:buNone/>
            </a:pPr>
            <a:r>
              <a:rPr lang="en-US" sz="2400" b="1" dirty="0">
                <a:solidFill>
                  <a:srgbClr val="D9622B"/>
                </a:solidFill>
                <a:latin typeface="+mj-lt" pitchFamily="34" charset="0"/>
                <a:ea typeface="+mj-lt" pitchFamily="34" charset="-122"/>
                <a:cs typeface="+mj-lt" pitchFamily="34" charset="-120"/>
              </a:rPr>
              <a:t>+£13.35M</a:t>
            </a:r>
            <a:endParaRPr lang="en-US" sz="2400" dirty="0"/>
          </a:p>
        </p:txBody>
      </p:sp>
      <p:sp>
        <p:nvSpPr>
          <p:cNvPr id="6" name="Text 3"/>
          <p:cNvSpPr txBox="1"/>
          <p:nvPr/>
        </p:nvSpPr>
        <p:spPr>
          <a:xfrm>
            <a:off x="5212080" y="1801368"/>
            <a:ext cx="3291840" cy="274320"/>
          </a:xfrm>
          <a:prstGeom prst="rect">
            <a:avLst/>
          </a:prstGeom>
          <a:noFill/>
          <a:ln/>
        </p:spPr>
        <p:txBody>
          <a:bodyPr wrap="square" lIns="0" tIns="0" rIns="0" bIns="0" rtlCol="0" anchor="t"/>
          <a:lstStyle/>
          <a:p>
            <a:pPr indent="0" marL="0">
              <a:buNone/>
            </a:pPr>
            <a:r>
              <a:rPr lang="en-US" sz="1300" dirty="0">
                <a:solidFill>
                  <a:srgbClr val="1B2430"/>
                </a:solidFill>
              </a:rPr>
              <a:t>overstated, a 139% error</a:t>
            </a:r>
            <a:endParaRPr lang="en-US" sz="1300" dirty="0"/>
          </a:p>
        </p:txBody>
      </p:sp>
      <p:sp>
        <p:nvSpPr>
          <p:cNvPr id="7" name="stat row"/>
          <p:cNvSpPr/>
          <p:nvPr/>
        </p:nvSpPr>
        <p:spPr>
          <a:xfrm>
            <a:off x="5029200" y="2258568"/>
            <a:ext cx="3657600" cy="822960"/>
          </a:xfrm>
          <a:prstGeom prst="roundRect">
            <a:avLst>
              <a:gd name="adj" fmla="val 888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5212080" y="2331720"/>
            <a:ext cx="3291840" cy="411480"/>
          </a:xfrm>
          <a:prstGeom prst="rect">
            <a:avLst/>
          </a:prstGeom>
          <a:noFill/>
          <a:ln/>
        </p:spPr>
        <p:txBody>
          <a:bodyPr wrap="square" lIns="0" tIns="0" rIns="0" bIns="0" rtlCol="0" anchor="t"/>
          <a:lstStyle/>
          <a:p>
            <a:pPr indent="0" marL="0">
              <a:buNone/>
            </a:pPr>
            <a:r>
              <a:rPr lang="en-US" sz="2400" b="1" dirty="0">
                <a:solidFill>
                  <a:srgbClr val="D9622B"/>
                </a:solidFill>
                <a:latin typeface="+mj-lt" pitchFamily="34" charset="0"/>
                <a:ea typeface="+mj-lt" pitchFamily="34" charset="-122"/>
                <a:cs typeface="+mj-lt" pitchFamily="34" charset="-120"/>
              </a:rPr>
              <a:t>= Net Revenue</a:t>
            </a:r>
            <a:endParaRPr lang="en-US" sz="2400" dirty="0"/>
          </a:p>
        </p:txBody>
      </p:sp>
      <p:sp>
        <p:nvSpPr>
          <p:cNvPr id="9" name="Text 6"/>
          <p:cNvSpPr txBox="1"/>
          <p:nvPr/>
        </p:nvSpPr>
        <p:spPr>
          <a:xfrm>
            <a:off x="5212080" y="2734056"/>
            <a:ext cx="3291840" cy="274320"/>
          </a:xfrm>
          <a:prstGeom prst="rect">
            <a:avLst/>
          </a:prstGeom>
          <a:noFill/>
          <a:ln/>
        </p:spPr>
        <p:txBody>
          <a:bodyPr wrap="square" lIns="0" tIns="0" rIns="0" bIns="0" rtlCol="0" anchor="t"/>
          <a:lstStyle/>
          <a:p>
            <a:pPr indent="0" marL="0">
              <a:buNone/>
            </a:pPr>
            <a:r>
              <a:rPr lang="en-US" sz="1300" dirty="0">
                <a:solidFill>
                  <a:srgbClr val="1B2430"/>
                </a:solidFill>
              </a:rPr>
              <a:t>£22,965,866.60 is exactly total net revenue</a:t>
            </a:r>
            <a:endParaRPr lang="en-US" sz="1300" dirty="0"/>
          </a:p>
        </p:txBody>
      </p:sp>
      <p:sp>
        <p:nvSpPr>
          <p:cNvPr id="10" name="stat row"/>
          <p:cNvSpPr/>
          <p:nvPr/>
        </p:nvSpPr>
        <p:spPr>
          <a:xfrm>
            <a:off x="5029200" y="3191256"/>
            <a:ext cx="3657600" cy="822960"/>
          </a:xfrm>
          <a:prstGeom prst="roundRect">
            <a:avLst>
              <a:gd name="adj" fmla="val 888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5212080" y="3264408"/>
            <a:ext cx="3291840" cy="411480"/>
          </a:xfrm>
          <a:prstGeom prst="rect">
            <a:avLst/>
          </a:prstGeom>
          <a:noFill/>
          <a:ln/>
        </p:spPr>
        <p:txBody>
          <a:bodyPr wrap="square" lIns="0" tIns="0" rIns="0" bIns="0" rtlCol="0" anchor="t"/>
          <a:lstStyle/>
          <a:p>
            <a:pPr indent="0" marL="0">
              <a:buNone/>
            </a:pPr>
            <a:r>
              <a:rPr lang="en-US" sz="2400" b="1" dirty="0">
                <a:solidFill>
                  <a:srgbClr val="D9622B"/>
                </a:solidFill>
                <a:latin typeface="+mj-lt" pitchFamily="34" charset="0"/>
                <a:ea typeface="+mj-lt" pitchFamily="34" charset="-122"/>
                <a:cs typeface="+mj-lt" pitchFamily="34" charset="-120"/>
              </a:rPr>
              <a:t>41.9%</a:t>
            </a:r>
            <a:endParaRPr lang="en-US" sz="2400" dirty="0"/>
          </a:p>
        </p:txBody>
      </p:sp>
      <p:sp>
        <p:nvSpPr>
          <p:cNvPr id="12" name="Text 9"/>
          <p:cNvSpPr txBox="1"/>
          <p:nvPr/>
        </p:nvSpPr>
        <p:spPr>
          <a:xfrm>
            <a:off x="5212080" y="3666744"/>
            <a:ext cx="3291840" cy="274320"/>
          </a:xfrm>
          <a:prstGeom prst="rect">
            <a:avLst/>
          </a:prstGeom>
          <a:noFill/>
          <a:ln/>
        </p:spPr>
        <p:txBody>
          <a:bodyPr wrap="square" lIns="0" tIns="0" rIns="0" bIns="0" rtlCol="0" anchor="t"/>
          <a:lstStyle/>
          <a:p>
            <a:pPr indent="0" marL="0">
              <a:buNone/>
            </a:pPr>
            <a:r>
              <a:rPr lang="en-US" sz="1300" dirty="0">
                <a:solidFill>
                  <a:srgbClr val="1B2430"/>
                </a:solidFill>
              </a:rPr>
              <a:t>true profit margin, not 100%</a:t>
            </a:r>
            <a:endParaRPr lang="en-US" sz="1300" dirty="0"/>
          </a:p>
        </p:txBody>
      </p:sp>
      <p:sp>
        <p:nvSpPr>
          <p:cNvPr id="13" name="action banner"/>
          <p:cNvSpPr/>
          <p:nvPr/>
        </p:nvSpPr>
        <p:spPr>
          <a:xfrm>
            <a:off x="457200" y="4251960"/>
            <a:ext cx="8229600" cy="457200"/>
          </a:xfrm>
          <a:prstGeom prst="roundRect">
            <a:avLst>
              <a:gd name="adj" fmla="val 16000"/>
            </a:avLst>
          </a:prstGeom>
          <a:solidFill>
            <a:srgbClr val="1B2430"/>
          </a:solidFill>
          <a:ln w="12700">
            <a:solidFill>
              <a:srgbClr val="1B2430"/>
            </a:solidFill>
            <a:prstDash val="solid"/>
          </a:ln>
        </p:spPr>
      </p:sp>
      <p:sp>
        <p:nvSpPr>
          <p:cNvPr id="14" name="Text 11"/>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400" dirty="0">
                <a:solidFill>
                  <a:srgbClr val="FFFFFF"/>
                </a:solidFill>
              </a:rPr>
              <a:t>Action: reject, escalate to the Finance Director, and add a check that profit never equals revenue.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AI-014: discounts, not returns, are the bigger revenue leak</a:t>
            </a:r>
            <a:endParaRPr lang="en-US" sz="2800" dirty="0"/>
          </a:p>
        </p:txBody>
      </p:sp>
      <p:graphicFrame>
        <p:nvGraphicFramePr>
          <p:cNvPr id="3" name="Chart 0" descr=""/>
          <p:cNvGraphicFramePr/>
          <p:nvPr/>
        </p:nvGraphicFramePr>
        <p:xfrm>
          <a:off x="457200" y="1280160"/>
          <a:ext cx="5212080" cy="30175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43400"/>
            <a:ext cx="5212080" cy="228600"/>
          </a:xfrm>
          <a:prstGeom prst="rect">
            <a:avLst/>
          </a:prstGeom>
          <a:noFill/>
          <a:ln/>
        </p:spPr>
        <p:txBody>
          <a:bodyPr wrap="square" lIns="0" tIns="0" rIns="0" bIns="0" rtlCol="0" anchor="t"/>
          <a:lstStyle/>
          <a:p>
            <a:pPr indent="0" marL="0">
              <a:buNone/>
            </a:pPr>
            <a:r>
              <a:rPr lang="en-US" sz="1000" dirty="0">
                <a:solidFill>
                  <a:srgbClr val="5B6B7C"/>
                </a:solidFill>
              </a:rPr>
              <a:t>Vertical axis starts at £20M to make the steps visible.</a:t>
            </a:r>
            <a:endParaRPr lang="en-US" sz="1000" dirty="0"/>
          </a:p>
        </p:txBody>
      </p:sp>
      <p:sp>
        <p:nvSpPr>
          <p:cNvPr id="5" name="stat card"/>
          <p:cNvSpPr/>
          <p:nvPr/>
        </p:nvSpPr>
        <p:spPr>
          <a:xfrm>
            <a:off x="5943600" y="1325880"/>
            <a:ext cx="2743200" cy="1005840"/>
          </a:xfrm>
          <a:prstGeom prst="roundRect">
            <a:avLst>
              <a:gd name="adj" fmla="val 7273"/>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126480" y="1371600"/>
            <a:ext cx="2377440" cy="548640"/>
          </a:xfrm>
          <a:prstGeom prst="rect">
            <a:avLst/>
          </a:prstGeom>
          <a:noFill/>
          <a:ln/>
        </p:spPr>
        <p:txBody>
          <a:bodyPr wrap="square" lIns="0" tIns="0" rIns="0" bIns="0" rtlCol="0" anchor="t"/>
          <a:lstStyle/>
          <a:p>
            <a:pPr indent="0" marL="0">
              <a:buNone/>
            </a:pPr>
            <a:r>
              <a:rPr lang="en-US" sz="3200" b="1" dirty="0">
                <a:solidFill>
                  <a:srgbClr val="C0392B"/>
                </a:solidFill>
                <a:latin typeface="+mj-lt" pitchFamily="34" charset="0"/>
                <a:ea typeface="+mj-lt" pitchFamily="34" charset="-122"/>
                <a:cs typeface="+mj-lt" pitchFamily="34" charset="-120"/>
              </a:rPr>
              <a:t>5.55%</a:t>
            </a:r>
            <a:endParaRPr lang="en-US" sz="3200" dirty="0"/>
          </a:p>
        </p:txBody>
      </p:sp>
      <p:sp>
        <p:nvSpPr>
          <p:cNvPr id="7" name="Text 4"/>
          <p:cNvSpPr txBox="1"/>
          <p:nvPr/>
        </p:nvSpPr>
        <p:spPr>
          <a:xfrm>
            <a:off x="6126480" y="1920240"/>
            <a:ext cx="2377440" cy="320040"/>
          </a:xfrm>
          <a:prstGeom prst="rect">
            <a:avLst/>
          </a:prstGeom>
          <a:noFill/>
          <a:ln/>
        </p:spPr>
        <p:txBody>
          <a:bodyPr wrap="square" lIns="0" tIns="0" rIns="0" bIns="0" rtlCol="0" anchor="t"/>
          <a:lstStyle/>
          <a:p>
            <a:pPr indent="0" marL="0">
              <a:buNone/>
            </a:pPr>
            <a:r>
              <a:rPr lang="en-US" sz="1200" dirty="0">
                <a:solidFill>
                  <a:srgbClr val="1B2430"/>
                </a:solidFill>
              </a:rPr>
              <a:t>Discounts as % of gross (£1.35M)</a:t>
            </a:r>
            <a:endParaRPr lang="en-US" sz="1200" dirty="0"/>
          </a:p>
        </p:txBody>
      </p:sp>
      <p:sp>
        <p:nvSpPr>
          <p:cNvPr id="8" name="stat card"/>
          <p:cNvSpPr/>
          <p:nvPr/>
        </p:nvSpPr>
        <p:spPr>
          <a:xfrm>
            <a:off x="5943600" y="2468880"/>
            <a:ext cx="2743200" cy="1005840"/>
          </a:xfrm>
          <a:prstGeom prst="roundRect">
            <a:avLst>
              <a:gd name="adj" fmla="val 7273"/>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6126480" y="2514600"/>
            <a:ext cx="2377440" cy="548640"/>
          </a:xfrm>
          <a:prstGeom prst="rect">
            <a:avLst/>
          </a:prstGeom>
          <a:noFill/>
          <a:ln/>
        </p:spPr>
        <p:txBody>
          <a:bodyPr wrap="square" lIns="0" tIns="0" rIns="0" bIns="0" rtlCol="0" anchor="t"/>
          <a:lstStyle/>
          <a:p>
            <a:pPr indent="0" marL="0">
              <a:buNone/>
            </a:pPr>
            <a:r>
              <a:rPr lang="en-US" sz="3200" b="1" dirty="0">
                <a:solidFill>
                  <a:srgbClr val="5B6B7C"/>
                </a:solidFill>
                <a:latin typeface="+mj-lt" pitchFamily="34" charset="0"/>
                <a:ea typeface="+mj-lt" pitchFamily="34" charset="-122"/>
                <a:cs typeface="+mj-lt" pitchFamily="34" charset="-120"/>
              </a:rPr>
              <a:t>4.77%</a:t>
            </a:r>
            <a:endParaRPr lang="en-US" sz="3200" dirty="0"/>
          </a:p>
        </p:txBody>
      </p:sp>
      <p:sp>
        <p:nvSpPr>
          <p:cNvPr id="10" name="Text 7"/>
          <p:cNvSpPr txBox="1"/>
          <p:nvPr/>
        </p:nvSpPr>
        <p:spPr>
          <a:xfrm>
            <a:off x="6126480" y="3063240"/>
            <a:ext cx="2377440" cy="320040"/>
          </a:xfrm>
          <a:prstGeom prst="rect">
            <a:avLst/>
          </a:prstGeom>
          <a:noFill/>
          <a:ln/>
        </p:spPr>
        <p:txBody>
          <a:bodyPr wrap="square" lIns="0" tIns="0" rIns="0" bIns="0" rtlCol="0" anchor="t"/>
          <a:lstStyle/>
          <a:p>
            <a:pPr indent="0" marL="0">
              <a:buNone/>
            </a:pPr>
            <a:r>
              <a:rPr lang="en-US" sz="1200" dirty="0">
                <a:solidFill>
                  <a:srgbClr val="1B2430"/>
                </a:solidFill>
              </a:rPr>
              <a:t>Returns as % of gross (£1.16M)</a:t>
            </a:r>
            <a:endParaRPr lang="en-US" sz="1200" dirty="0"/>
          </a:p>
        </p:txBody>
      </p:sp>
      <p:sp>
        <p:nvSpPr>
          <p:cNvPr id="11" name="Text 8"/>
          <p:cNvSpPr txBox="1"/>
          <p:nvPr/>
        </p:nvSpPr>
        <p:spPr>
          <a:xfrm>
            <a:off x="5943600" y="3611880"/>
            <a:ext cx="2743200" cy="1005840"/>
          </a:xfrm>
          <a:prstGeom prst="rect">
            <a:avLst/>
          </a:prstGeom>
          <a:noFill/>
          <a:ln/>
        </p:spPr>
        <p:txBody>
          <a:bodyPr wrap="square" lIns="0" tIns="0" rIns="0" bIns="0" rtlCol="0" anchor="t"/>
          <a:lstStyle/>
          <a:p>
            <a:pPr indent="0" marL="0">
              <a:buNone/>
            </a:pPr>
            <a:r>
              <a:rPr lang="en-US" sz="1200" dirty="0">
                <a:solidFill>
                  <a:srgbClr val="1B2430"/>
                </a:solidFill>
              </a:rPr>
              <a:t>The AI said returns were the main gap. Returns are not deducted in Net Revenue at all: the gross-to-net gap is 100% discounts.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AI-011 and AI-015: high spend is not permission to contact</a:t>
            </a:r>
            <a:endParaRPr lang="en-US" sz="2800" dirty="0"/>
          </a:p>
        </p:txBody>
      </p:sp>
      <p:sp>
        <p:nvSpPr>
          <p:cNvPr id="3" name="customer tile"/>
          <p:cNvSpPr/>
          <p:nvPr/>
        </p:nvSpPr>
        <p:spPr>
          <a:xfrm>
            <a:off x="457200" y="1325880"/>
            <a:ext cx="2514600" cy="566928"/>
          </a:xfrm>
          <a:prstGeom prst="roundRect">
            <a:avLst>
              <a:gd name="adj" fmla="val 12903"/>
            </a:avLst>
          </a:prstGeom>
          <a:solidFill>
            <a:srgbClr val="FBE4E1"/>
          </a:solidFill>
          <a:ln w="12700">
            <a:solidFill>
              <a:srgbClr val="FBE4E1"/>
            </a:solidFill>
            <a:prstDash val="solid"/>
          </a:ln>
        </p:spPr>
      </p:sp>
      <p:sp>
        <p:nvSpPr>
          <p:cNvPr id="4" name="Text 2"/>
          <p:cNvSpPr txBox="1"/>
          <p:nvPr/>
        </p:nvSpPr>
        <p:spPr>
          <a:xfrm>
            <a:off x="594360" y="1325880"/>
            <a:ext cx="1188720" cy="566928"/>
          </a:xfrm>
          <a:prstGeom prst="rect">
            <a:avLst/>
          </a:prstGeom>
          <a:noFill/>
          <a:ln/>
        </p:spPr>
        <p:txBody>
          <a:bodyPr wrap="square" lIns="0" tIns="0" rIns="0" bIns="0" rtlCol="0" anchor="ctr"/>
          <a:lstStyle/>
          <a:p>
            <a:pPr indent="0" marL="0">
              <a:buNone/>
            </a:pPr>
            <a:r>
              <a:rPr lang="en-US" sz="1300" dirty="0">
                <a:solidFill>
                  <a:srgbClr val="5B6B7C"/>
                </a:solidFill>
              </a:rPr>
              <a:t>#1  </a:t>
            </a:r>
            <a:pPr indent="0" marL="0">
              <a:buNone/>
            </a:pPr>
            <a:r>
              <a:rPr lang="en-US" sz="1300" b="1" dirty="0">
                <a:solidFill>
                  <a:srgbClr val="1B2430"/>
                </a:solidFill>
              </a:rPr>
              <a:t>C00508</a:t>
            </a:r>
            <a:endParaRPr lang="en-US" sz="1300" dirty="0"/>
          </a:p>
        </p:txBody>
      </p:sp>
      <p:sp>
        <p:nvSpPr>
          <p:cNvPr id="5" name="Text 3"/>
          <p:cNvSpPr txBox="1"/>
          <p:nvPr/>
        </p:nvSpPr>
        <p:spPr>
          <a:xfrm>
            <a:off x="1554480" y="132588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£20,047.85</a:t>
            </a:r>
            <a:endParaRPr lang="en-US" sz="1100" dirty="0"/>
          </a:p>
        </p:txBody>
      </p:sp>
      <p:sp>
        <p:nvSpPr>
          <p:cNvPr id="6" name="Text 4"/>
          <p:cNvSpPr txBox="1"/>
          <p:nvPr/>
        </p:nvSpPr>
        <p:spPr>
          <a:xfrm>
            <a:off x="2377440" y="132588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7" name="customer tile"/>
          <p:cNvSpPr/>
          <p:nvPr/>
        </p:nvSpPr>
        <p:spPr>
          <a:xfrm>
            <a:off x="457200" y="1965960"/>
            <a:ext cx="2514600" cy="566928"/>
          </a:xfrm>
          <a:prstGeom prst="roundRect">
            <a:avLst>
              <a:gd name="adj" fmla="val 12903"/>
            </a:avLst>
          </a:prstGeom>
          <a:solidFill>
            <a:srgbClr val="FBE4E1"/>
          </a:solidFill>
          <a:ln w="12700">
            <a:solidFill>
              <a:srgbClr val="FBE4E1"/>
            </a:solidFill>
            <a:prstDash val="solid"/>
          </a:ln>
        </p:spPr>
      </p:sp>
      <p:sp>
        <p:nvSpPr>
          <p:cNvPr id="8" name="Text 6"/>
          <p:cNvSpPr txBox="1"/>
          <p:nvPr/>
        </p:nvSpPr>
        <p:spPr>
          <a:xfrm>
            <a:off x="594360" y="1965960"/>
            <a:ext cx="1188720" cy="566928"/>
          </a:xfrm>
          <a:prstGeom prst="rect">
            <a:avLst/>
          </a:prstGeom>
          <a:noFill/>
          <a:ln/>
        </p:spPr>
        <p:txBody>
          <a:bodyPr wrap="square" lIns="0" tIns="0" rIns="0" bIns="0" rtlCol="0" anchor="ctr"/>
          <a:lstStyle/>
          <a:p>
            <a:pPr indent="0" marL="0">
              <a:buNone/>
            </a:pPr>
            <a:r>
              <a:rPr lang="en-US" sz="1300" dirty="0">
                <a:solidFill>
                  <a:srgbClr val="5B6B7C"/>
                </a:solidFill>
              </a:rPr>
              <a:t>#2  </a:t>
            </a:r>
            <a:pPr indent="0" marL="0">
              <a:buNone/>
            </a:pPr>
            <a:r>
              <a:rPr lang="en-US" sz="1300" b="1" dirty="0">
                <a:solidFill>
                  <a:srgbClr val="1B2430"/>
                </a:solidFill>
              </a:rPr>
              <a:t>C03365</a:t>
            </a:r>
            <a:endParaRPr lang="en-US" sz="1300" dirty="0"/>
          </a:p>
        </p:txBody>
      </p:sp>
      <p:sp>
        <p:nvSpPr>
          <p:cNvPr id="9" name="Text 7"/>
          <p:cNvSpPr txBox="1"/>
          <p:nvPr/>
        </p:nvSpPr>
        <p:spPr>
          <a:xfrm>
            <a:off x="1554480" y="196596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£19,485.00</a:t>
            </a:r>
            <a:endParaRPr lang="en-US" sz="1100" dirty="0"/>
          </a:p>
        </p:txBody>
      </p:sp>
      <p:sp>
        <p:nvSpPr>
          <p:cNvPr id="10" name="Text 8"/>
          <p:cNvSpPr txBox="1"/>
          <p:nvPr/>
        </p:nvSpPr>
        <p:spPr>
          <a:xfrm>
            <a:off x="2377440" y="196596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11" name="customer tile"/>
          <p:cNvSpPr/>
          <p:nvPr/>
        </p:nvSpPr>
        <p:spPr>
          <a:xfrm>
            <a:off x="457200" y="2606040"/>
            <a:ext cx="2514600" cy="566928"/>
          </a:xfrm>
          <a:prstGeom prst="roundRect">
            <a:avLst>
              <a:gd name="adj" fmla="val 12903"/>
            </a:avLst>
          </a:prstGeom>
          <a:solidFill>
            <a:srgbClr val="FBE4E1"/>
          </a:solidFill>
          <a:ln w="12700">
            <a:solidFill>
              <a:srgbClr val="FBE4E1"/>
            </a:solidFill>
            <a:prstDash val="solid"/>
          </a:ln>
        </p:spPr>
      </p:sp>
      <p:sp>
        <p:nvSpPr>
          <p:cNvPr id="12" name="Text 10"/>
          <p:cNvSpPr txBox="1"/>
          <p:nvPr/>
        </p:nvSpPr>
        <p:spPr>
          <a:xfrm>
            <a:off x="594360" y="2606040"/>
            <a:ext cx="1188720" cy="566928"/>
          </a:xfrm>
          <a:prstGeom prst="rect">
            <a:avLst/>
          </a:prstGeom>
          <a:noFill/>
          <a:ln/>
        </p:spPr>
        <p:txBody>
          <a:bodyPr wrap="square" lIns="0" tIns="0" rIns="0" bIns="0" rtlCol="0" anchor="ctr"/>
          <a:lstStyle/>
          <a:p>
            <a:pPr indent="0" marL="0">
              <a:buNone/>
            </a:pPr>
            <a:r>
              <a:rPr lang="en-US" sz="1300" dirty="0">
                <a:solidFill>
                  <a:srgbClr val="5B6B7C"/>
                </a:solidFill>
              </a:rPr>
              <a:t>#3  </a:t>
            </a:r>
            <a:pPr indent="0" marL="0">
              <a:buNone/>
            </a:pPr>
            <a:r>
              <a:rPr lang="en-US" sz="1300" b="1" dirty="0">
                <a:solidFill>
                  <a:srgbClr val="1B2430"/>
                </a:solidFill>
              </a:rPr>
              <a:t>C01553</a:t>
            </a:r>
            <a:endParaRPr lang="en-US" sz="1300" dirty="0"/>
          </a:p>
        </p:txBody>
      </p:sp>
      <p:sp>
        <p:nvSpPr>
          <p:cNvPr id="13" name="Text 11"/>
          <p:cNvSpPr txBox="1"/>
          <p:nvPr/>
        </p:nvSpPr>
        <p:spPr>
          <a:xfrm>
            <a:off x="1554480" y="260604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£18,624.15</a:t>
            </a:r>
            <a:endParaRPr lang="en-US" sz="1100" dirty="0"/>
          </a:p>
        </p:txBody>
      </p:sp>
      <p:sp>
        <p:nvSpPr>
          <p:cNvPr id="14" name="Text 12"/>
          <p:cNvSpPr txBox="1"/>
          <p:nvPr/>
        </p:nvSpPr>
        <p:spPr>
          <a:xfrm>
            <a:off x="2377440" y="260604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15" name="customer tile"/>
          <p:cNvSpPr/>
          <p:nvPr/>
        </p:nvSpPr>
        <p:spPr>
          <a:xfrm>
            <a:off x="457200" y="3246120"/>
            <a:ext cx="2514600" cy="566928"/>
          </a:xfrm>
          <a:prstGeom prst="roundRect">
            <a:avLst>
              <a:gd name="adj" fmla="val 12903"/>
            </a:avLst>
          </a:prstGeom>
          <a:solidFill>
            <a:srgbClr val="DDF1EE"/>
          </a:solidFill>
          <a:ln w="12700">
            <a:solidFill>
              <a:srgbClr val="DDF1EE"/>
            </a:solidFill>
            <a:prstDash val="solid"/>
          </a:ln>
        </p:spPr>
      </p:sp>
      <p:sp>
        <p:nvSpPr>
          <p:cNvPr id="16" name="Text 14"/>
          <p:cNvSpPr txBox="1"/>
          <p:nvPr/>
        </p:nvSpPr>
        <p:spPr>
          <a:xfrm>
            <a:off x="594360" y="3246120"/>
            <a:ext cx="1188720" cy="566928"/>
          </a:xfrm>
          <a:prstGeom prst="rect">
            <a:avLst/>
          </a:prstGeom>
          <a:noFill/>
          <a:ln/>
        </p:spPr>
        <p:txBody>
          <a:bodyPr wrap="square" lIns="0" tIns="0" rIns="0" bIns="0" rtlCol="0" anchor="ctr"/>
          <a:lstStyle/>
          <a:p>
            <a:pPr indent="0" marL="0">
              <a:buNone/>
            </a:pPr>
            <a:r>
              <a:rPr lang="en-US" sz="1300" dirty="0">
                <a:solidFill>
                  <a:srgbClr val="5B6B7C"/>
                </a:solidFill>
              </a:rPr>
              <a:t>#4  </a:t>
            </a:r>
            <a:pPr indent="0" marL="0">
              <a:buNone/>
            </a:pPr>
            <a:r>
              <a:rPr lang="en-US" sz="1300" b="1" dirty="0">
                <a:solidFill>
                  <a:srgbClr val="1B2430"/>
                </a:solidFill>
              </a:rPr>
              <a:t>C03570</a:t>
            </a:r>
            <a:endParaRPr lang="en-US" sz="1300" dirty="0"/>
          </a:p>
        </p:txBody>
      </p:sp>
      <p:sp>
        <p:nvSpPr>
          <p:cNvPr id="17" name="Text 15"/>
          <p:cNvSpPr txBox="1"/>
          <p:nvPr/>
        </p:nvSpPr>
        <p:spPr>
          <a:xfrm>
            <a:off x="1554480" y="324612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£18,287.65</a:t>
            </a:r>
            <a:endParaRPr lang="en-US" sz="1100" dirty="0"/>
          </a:p>
        </p:txBody>
      </p:sp>
      <p:sp>
        <p:nvSpPr>
          <p:cNvPr id="18" name="Text 16"/>
          <p:cNvSpPr txBox="1"/>
          <p:nvPr/>
        </p:nvSpPr>
        <p:spPr>
          <a:xfrm>
            <a:off x="2377440" y="3246120"/>
            <a:ext cx="502920" cy="566928"/>
          </a:xfrm>
          <a:prstGeom prst="rect">
            <a:avLst/>
          </a:prstGeom>
          <a:noFill/>
          <a:ln/>
        </p:spPr>
        <p:txBody>
          <a:bodyPr wrap="square" lIns="0" tIns="0" rIns="0" bIns="0" rtlCol="0" anchor="ctr"/>
          <a:lstStyle/>
          <a:p>
            <a:pPr algn="r" indent="0" marL="0">
              <a:buNone/>
            </a:pPr>
            <a:r>
              <a:rPr lang="en-US" sz="1100" b="1" dirty="0">
                <a:solidFill>
                  <a:srgbClr val="2A9D8F"/>
                </a:solidFill>
              </a:rPr>
              <a:t>OK</a:t>
            </a:r>
            <a:endParaRPr lang="en-US" sz="1100" dirty="0"/>
          </a:p>
        </p:txBody>
      </p:sp>
      <p:sp>
        <p:nvSpPr>
          <p:cNvPr id="19" name="customer tile"/>
          <p:cNvSpPr/>
          <p:nvPr/>
        </p:nvSpPr>
        <p:spPr>
          <a:xfrm>
            <a:off x="457200" y="3886200"/>
            <a:ext cx="2514600" cy="566928"/>
          </a:xfrm>
          <a:prstGeom prst="roundRect">
            <a:avLst>
              <a:gd name="adj" fmla="val 12903"/>
            </a:avLst>
          </a:prstGeom>
          <a:solidFill>
            <a:srgbClr val="DDF1EE"/>
          </a:solidFill>
          <a:ln w="12700">
            <a:solidFill>
              <a:srgbClr val="DDF1EE"/>
            </a:solidFill>
            <a:prstDash val="solid"/>
          </a:ln>
        </p:spPr>
      </p:sp>
      <p:sp>
        <p:nvSpPr>
          <p:cNvPr id="20" name="Text 18"/>
          <p:cNvSpPr txBox="1"/>
          <p:nvPr/>
        </p:nvSpPr>
        <p:spPr>
          <a:xfrm>
            <a:off x="594360" y="3886200"/>
            <a:ext cx="1188720" cy="566928"/>
          </a:xfrm>
          <a:prstGeom prst="rect">
            <a:avLst/>
          </a:prstGeom>
          <a:noFill/>
          <a:ln/>
        </p:spPr>
        <p:txBody>
          <a:bodyPr wrap="square" lIns="0" tIns="0" rIns="0" bIns="0" rtlCol="0" anchor="ctr"/>
          <a:lstStyle/>
          <a:p>
            <a:pPr indent="0" marL="0">
              <a:buNone/>
            </a:pPr>
            <a:r>
              <a:rPr lang="en-US" sz="1300" dirty="0">
                <a:solidFill>
                  <a:srgbClr val="5B6B7C"/>
                </a:solidFill>
              </a:rPr>
              <a:t>#5  </a:t>
            </a:r>
            <a:pPr indent="0" marL="0">
              <a:buNone/>
            </a:pPr>
            <a:r>
              <a:rPr lang="en-US" sz="1300" b="1" dirty="0">
                <a:solidFill>
                  <a:srgbClr val="1B2430"/>
                </a:solidFill>
              </a:rPr>
              <a:t>C00712</a:t>
            </a:r>
            <a:endParaRPr lang="en-US" sz="1300" dirty="0"/>
          </a:p>
        </p:txBody>
      </p:sp>
      <p:sp>
        <p:nvSpPr>
          <p:cNvPr id="21" name="Text 19"/>
          <p:cNvSpPr txBox="1"/>
          <p:nvPr/>
        </p:nvSpPr>
        <p:spPr>
          <a:xfrm>
            <a:off x="1554480" y="388620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£18,061.15</a:t>
            </a:r>
            <a:endParaRPr lang="en-US" sz="1100" dirty="0"/>
          </a:p>
        </p:txBody>
      </p:sp>
      <p:sp>
        <p:nvSpPr>
          <p:cNvPr id="22" name="Text 20"/>
          <p:cNvSpPr txBox="1"/>
          <p:nvPr/>
        </p:nvSpPr>
        <p:spPr>
          <a:xfrm>
            <a:off x="2377440" y="3886200"/>
            <a:ext cx="502920" cy="566928"/>
          </a:xfrm>
          <a:prstGeom prst="rect">
            <a:avLst/>
          </a:prstGeom>
          <a:noFill/>
          <a:ln/>
        </p:spPr>
        <p:txBody>
          <a:bodyPr wrap="square" lIns="0" tIns="0" rIns="0" bIns="0" rtlCol="0" anchor="ctr"/>
          <a:lstStyle/>
          <a:p>
            <a:pPr algn="r" indent="0" marL="0">
              <a:buNone/>
            </a:pPr>
            <a:r>
              <a:rPr lang="en-US" sz="1100" b="1" dirty="0">
                <a:solidFill>
                  <a:srgbClr val="2A9D8F"/>
                </a:solidFill>
              </a:rPr>
              <a:t>OK</a:t>
            </a:r>
            <a:endParaRPr lang="en-US" sz="1100" dirty="0"/>
          </a:p>
        </p:txBody>
      </p:sp>
      <p:sp>
        <p:nvSpPr>
          <p:cNvPr id="23" name="customer tile"/>
          <p:cNvSpPr/>
          <p:nvPr/>
        </p:nvSpPr>
        <p:spPr>
          <a:xfrm>
            <a:off x="3063240" y="1325880"/>
            <a:ext cx="2514600" cy="566928"/>
          </a:xfrm>
          <a:prstGeom prst="roundRect">
            <a:avLst>
              <a:gd name="adj" fmla="val 12903"/>
            </a:avLst>
          </a:prstGeom>
          <a:solidFill>
            <a:srgbClr val="FBE4E1"/>
          </a:solidFill>
          <a:ln w="12700">
            <a:solidFill>
              <a:srgbClr val="FBE4E1"/>
            </a:solidFill>
            <a:prstDash val="solid"/>
          </a:ln>
        </p:spPr>
      </p:sp>
      <p:sp>
        <p:nvSpPr>
          <p:cNvPr id="24" name="Text 22"/>
          <p:cNvSpPr txBox="1"/>
          <p:nvPr/>
        </p:nvSpPr>
        <p:spPr>
          <a:xfrm>
            <a:off x="3200400" y="1325880"/>
            <a:ext cx="1188720" cy="566928"/>
          </a:xfrm>
          <a:prstGeom prst="rect">
            <a:avLst/>
          </a:prstGeom>
          <a:noFill/>
          <a:ln/>
        </p:spPr>
        <p:txBody>
          <a:bodyPr wrap="square" lIns="0" tIns="0" rIns="0" bIns="0" rtlCol="0" anchor="ctr"/>
          <a:lstStyle/>
          <a:p>
            <a:pPr indent="0" marL="0">
              <a:buNone/>
            </a:pPr>
            <a:r>
              <a:rPr lang="en-US" sz="1300" dirty="0">
                <a:solidFill>
                  <a:srgbClr val="5B6B7C"/>
                </a:solidFill>
              </a:rPr>
              <a:t>#6  </a:t>
            </a:r>
            <a:pPr indent="0" marL="0">
              <a:buNone/>
            </a:pPr>
            <a:r>
              <a:rPr lang="en-US" sz="1300" b="1" dirty="0">
                <a:solidFill>
                  <a:srgbClr val="1B2430"/>
                </a:solidFill>
              </a:rPr>
              <a:t>C02525</a:t>
            </a:r>
            <a:endParaRPr lang="en-US" sz="1300" dirty="0"/>
          </a:p>
        </p:txBody>
      </p:sp>
      <p:sp>
        <p:nvSpPr>
          <p:cNvPr id="25" name="Text 23"/>
          <p:cNvSpPr txBox="1"/>
          <p:nvPr/>
        </p:nvSpPr>
        <p:spPr>
          <a:xfrm>
            <a:off x="4160520" y="132588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£17,513.95</a:t>
            </a:r>
            <a:endParaRPr lang="en-US" sz="1100" dirty="0"/>
          </a:p>
        </p:txBody>
      </p:sp>
      <p:sp>
        <p:nvSpPr>
          <p:cNvPr id="26" name="Text 24"/>
          <p:cNvSpPr txBox="1"/>
          <p:nvPr/>
        </p:nvSpPr>
        <p:spPr>
          <a:xfrm>
            <a:off x="4983480" y="132588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27" name="customer tile"/>
          <p:cNvSpPr/>
          <p:nvPr/>
        </p:nvSpPr>
        <p:spPr>
          <a:xfrm>
            <a:off x="3063240" y="1965960"/>
            <a:ext cx="2514600" cy="566928"/>
          </a:xfrm>
          <a:prstGeom prst="roundRect">
            <a:avLst>
              <a:gd name="adj" fmla="val 12903"/>
            </a:avLst>
          </a:prstGeom>
          <a:solidFill>
            <a:srgbClr val="FBE4E1"/>
          </a:solidFill>
          <a:ln w="12700">
            <a:solidFill>
              <a:srgbClr val="FBE4E1"/>
            </a:solidFill>
            <a:prstDash val="solid"/>
          </a:ln>
        </p:spPr>
      </p:sp>
      <p:sp>
        <p:nvSpPr>
          <p:cNvPr id="28" name="Text 26"/>
          <p:cNvSpPr txBox="1"/>
          <p:nvPr/>
        </p:nvSpPr>
        <p:spPr>
          <a:xfrm>
            <a:off x="3200400" y="1965960"/>
            <a:ext cx="1188720" cy="566928"/>
          </a:xfrm>
          <a:prstGeom prst="rect">
            <a:avLst/>
          </a:prstGeom>
          <a:noFill/>
          <a:ln/>
        </p:spPr>
        <p:txBody>
          <a:bodyPr wrap="square" lIns="0" tIns="0" rIns="0" bIns="0" rtlCol="0" anchor="ctr"/>
          <a:lstStyle/>
          <a:p>
            <a:pPr indent="0" marL="0">
              <a:buNone/>
            </a:pPr>
            <a:r>
              <a:rPr lang="en-US" sz="1300" dirty="0">
                <a:solidFill>
                  <a:srgbClr val="5B6B7C"/>
                </a:solidFill>
              </a:rPr>
              <a:t>#7  </a:t>
            </a:r>
            <a:pPr indent="0" marL="0">
              <a:buNone/>
            </a:pPr>
            <a:r>
              <a:rPr lang="en-US" sz="1300" b="1" dirty="0">
                <a:solidFill>
                  <a:srgbClr val="1B2430"/>
                </a:solidFill>
              </a:rPr>
              <a:t>C01403</a:t>
            </a:r>
            <a:endParaRPr lang="en-US" sz="1300" dirty="0"/>
          </a:p>
        </p:txBody>
      </p:sp>
      <p:sp>
        <p:nvSpPr>
          <p:cNvPr id="29" name="Text 27"/>
          <p:cNvSpPr txBox="1"/>
          <p:nvPr/>
        </p:nvSpPr>
        <p:spPr>
          <a:xfrm>
            <a:off x="4160520" y="196596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£17,496.70</a:t>
            </a:r>
            <a:endParaRPr lang="en-US" sz="1100" dirty="0"/>
          </a:p>
        </p:txBody>
      </p:sp>
      <p:sp>
        <p:nvSpPr>
          <p:cNvPr id="30" name="Text 28"/>
          <p:cNvSpPr txBox="1"/>
          <p:nvPr/>
        </p:nvSpPr>
        <p:spPr>
          <a:xfrm>
            <a:off x="4983480" y="196596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31" name="customer tile"/>
          <p:cNvSpPr/>
          <p:nvPr/>
        </p:nvSpPr>
        <p:spPr>
          <a:xfrm>
            <a:off x="3063240" y="2606040"/>
            <a:ext cx="2514600" cy="566928"/>
          </a:xfrm>
          <a:prstGeom prst="roundRect">
            <a:avLst>
              <a:gd name="adj" fmla="val 12903"/>
            </a:avLst>
          </a:prstGeom>
          <a:solidFill>
            <a:srgbClr val="DDF1EE"/>
          </a:solidFill>
          <a:ln w="12700">
            <a:solidFill>
              <a:srgbClr val="DDF1EE"/>
            </a:solidFill>
            <a:prstDash val="solid"/>
          </a:ln>
        </p:spPr>
      </p:sp>
      <p:sp>
        <p:nvSpPr>
          <p:cNvPr id="32" name="Text 30"/>
          <p:cNvSpPr txBox="1"/>
          <p:nvPr/>
        </p:nvSpPr>
        <p:spPr>
          <a:xfrm>
            <a:off x="3200400" y="2606040"/>
            <a:ext cx="1188720" cy="566928"/>
          </a:xfrm>
          <a:prstGeom prst="rect">
            <a:avLst/>
          </a:prstGeom>
          <a:noFill/>
          <a:ln/>
        </p:spPr>
        <p:txBody>
          <a:bodyPr wrap="square" lIns="0" tIns="0" rIns="0" bIns="0" rtlCol="0" anchor="ctr"/>
          <a:lstStyle/>
          <a:p>
            <a:pPr indent="0" marL="0">
              <a:buNone/>
            </a:pPr>
            <a:r>
              <a:rPr lang="en-US" sz="1300" dirty="0">
                <a:solidFill>
                  <a:srgbClr val="5B6B7C"/>
                </a:solidFill>
              </a:rPr>
              <a:t>#8  </a:t>
            </a:r>
            <a:pPr indent="0" marL="0">
              <a:buNone/>
            </a:pPr>
            <a:r>
              <a:rPr lang="en-US" sz="1300" b="1" dirty="0">
                <a:solidFill>
                  <a:srgbClr val="1B2430"/>
                </a:solidFill>
              </a:rPr>
              <a:t>C01562</a:t>
            </a:r>
            <a:endParaRPr lang="en-US" sz="1300" dirty="0"/>
          </a:p>
        </p:txBody>
      </p:sp>
      <p:sp>
        <p:nvSpPr>
          <p:cNvPr id="33" name="Text 31"/>
          <p:cNvSpPr txBox="1"/>
          <p:nvPr/>
        </p:nvSpPr>
        <p:spPr>
          <a:xfrm>
            <a:off x="4160520" y="260604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£17,225.25</a:t>
            </a:r>
            <a:endParaRPr lang="en-US" sz="1100" dirty="0"/>
          </a:p>
        </p:txBody>
      </p:sp>
      <p:sp>
        <p:nvSpPr>
          <p:cNvPr id="34" name="Text 32"/>
          <p:cNvSpPr txBox="1"/>
          <p:nvPr/>
        </p:nvSpPr>
        <p:spPr>
          <a:xfrm>
            <a:off x="4983480" y="2606040"/>
            <a:ext cx="502920" cy="566928"/>
          </a:xfrm>
          <a:prstGeom prst="rect">
            <a:avLst/>
          </a:prstGeom>
          <a:noFill/>
          <a:ln/>
        </p:spPr>
        <p:txBody>
          <a:bodyPr wrap="square" lIns="0" tIns="0" rIns="0" bIns="0" rtlCol="0" anchor="ctr"/>
          <a:lstStyle/>
          <a:p>
            <a:pPr algn="r" indent="0" marL="0">
              <a:buNone/>
            </a:pPr>
            <a:r>
              <a:rPr lang="en-US" sz="1100" b="1" dirty="0">
                <a:solidFill>
                  <a:srgbClr val="2A9D8F"/>
                </a:solidFill>
              </a:rPr>
              <a:t>OK</a:t>
            </a:r>
            <a:endParaRPr lang="en-US" sz="1100" dirty="0"/>
          </a:p>
        </p:txBody>
      </p:sp>
      <p:sp>
        <p:nvSpPr>
          <p:cNvPr id="35" name="customer tile"/>
          <p:cNvSpPr/>
          <p:nvPr/>
        </p:nvSpPr>
        <p:spPr>
          <a:xfrm>
            <a:off x="3063240" y="3246120"/>
            <a:ext cx="2514600" cy="566928"/>
          </a:xfrm>
          <a:prstGeom prst="roundRect">
            <a:avLst>
              <a:gd name="adj" fmla="val 12903"/>
            </a:avLst>
          </a:prstGeom>
          <a:solidFill>
            <a:srgbClr val="FBE4E1"/>
          </a:solidFill>
          <a:ln w="12700">
            <a:solidFill>
              <a:srgbClr val="FBE4E1"/>
            </a:solidFill>
            <a:prstDash val="solid"/>
          </a:ln>
        </p:spPr>
      </p:sp>
      <p:sp>
        <p:nvSpPr>
          <p:cNvPr id="36" name="Text 34"/>
          <p:cNvSpPr txBox="1"/>
          <p:nvPr/>
        </p:nvSpPr>
        <p:spPr>
          <a:xfrm>
            <a:off x="3200400" y="3246120"/>
            <a:ext cx="1188720" cy="566928"/>
          </a:xfrm>
          <a:prstGeom prst="rect">
            <a:avLst/>
          </a:prstGeom>
          <a:noFill/>
          <a:ln/>
        </p:spPr>
        <p:txBody>
          <a:bodyPr wrap="square" lIns="0" tIns="0" rIns="0" bIns="0" rtlCol="0" anchor="ctr"/>
          <a:lstStyle/>
          <a:p>
            <a:pPr indent="0" marL="0">
              <a:buNone/>
            </a:pPr>
            <a:r>
              <a:rPr lang="en-US" sz="1300" dirty="0">
                <a:solidFill>
                  <a:srgbClr val="5B6B7C"/>
                </a:solidFill>
              </a:rPr>
              <a:t>#9  </a:t>
            </a:r>
            <a:pPr indent="0" marL="0">
              <a:buNone/>
            </a:pPr>
            <a:r>
              <a:rPr lang="en-US" sz="1300" b="1" dirty="0">
                <a:solidFill>
                  <a:srgbClr val="1B2430"/>
                </a:solidFill>
              </a:rPr>
              <a:t>C01855</a:t>
            </a:r>
            <a:endParaRPr lang="en-US" sz="1300" dirty="0"/>
          </a:p>
        </p:txBody>
      </p:sp>
      <p:sp>
        <p:nvSpPr>
          <p:cNvPr id="37" name="Text 35"/>
          <p:cNvSpPr txBox="1"/>
          <p:nvPr/>
        </p:nvSpPr>
        <p:spPr>
          <a:xfrm>
            <a:off x="4160520" y="324612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£16,848.15</a:t>
            </a:r>
            <a:endParaRPr lang="en-US" sz="1100" dirty="0"/>
          </a:p>
        </p:txBody>
      </p:sp>
      <p:sp>
        <p:nvSpPr>
          <p:cNvPr id="38" name="Text 36"/>
          <p:cNvSpPr txBox="1"/>
          <p:nvPr/>
        </p:nvSpPr>
        <p:spPr>
          <a:xfrm>
            <a:off x="4983480" y="324612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39" name="customer tile"/>
          <p:cNvSpPr/>
          <p:nvPr/>
        </p:nvSpPr>
        <p:spPr>
          <a:xfrm>
            <a:off x="3063240" y="3886200"/>
            <a:ext cx="2514600" cy="566928"/>
          </a:xfrm>
          <a:prstGeom prst="roundRect">
            <a:avLst>
              <a:gd name="adj" fmla="val 12903"/>
            </a:avLst>
          </a:prstGeom>
          <a:solidFill>
            <a:srgbClr val="FBE4E1"/>
          </a:solidFill>
          <a:ln w="12700">
            <a:solidFill>
              <a:srgbClr val="FBE4E1"/>
            </a:solidFill>
            <a:prstDash val="solid"/>
          </a:ln>
        </p:spPr>
      </p:sp>
      <p:sp>
        <p:nvSpPr>
          <p:cNvPr id="40" name="Text 38"/>
          <p:cNvSpPr txBox="1"/>
          <p:nvPr/>
        </p:nvSpPr>
        <p:spPr>
          <a:xfrm>
            <a:off x="3200400" y="3886200"/>
            <a:ext cx="1188720" cy="566928"/>
          </a:xfrm>
          <a:prstGeom prst="rect">
            <a:avLst/>
          </a:prstGeom>
          <a:noFill/>
          <a:ln/>
        </p:spPr>
        <p:txBody>
          <a:bodyPr wrap="square" lIns="0" tIns="0" rIns="0" bIns="0" rtlCol="0" anchor="ctr"/>
          <a:lstStyle/>
          <a:p>
            <a:pPr indent="0" marL="0">
              <a:buNone/>
            </a:pPr>
            <a:r>
              <a:rPr lang="en-US" sz="1300" dirty="0">
                <a:solidFill>
                  <a:srgbClr val="5B6B7C"/>
                </a:solidFill>
              </a:rPr>
              <a:t>#10  </a:t>
            </a:r>
            <a:pPr indent="0" marL="0">
              <a:buNone/>
            </a:pPr>
            <a:r>
              <a:rPr lang="en-US" sz="1300" b="1" dirty="0">
                <a:solidFill>
                  <a:srgbClr val="1B2430"/>
                </a:solidFill>
              </a:rPr>
              <a:t>C00699</a:t>
            </a:r>
            <a:endParaRPr lang="en-US" sz="1300" dirty="0"/>
          </a:p>
        </p:txBody>
      </p:sp>
      <p:sp>
        <p:nvSpPr>
          <p:cNvPr id="41" name="Text 39"/>
          <p:cNvSpPr txBox="1"/>
          <p:nvPr/>
        </p:nvSpPr>
        <p:spPr>
          <a:xfrm>
            <a:off x="4160520" y="3886200"/>
            <a:ext cx="822960" cy="566928"/>
          </a:xfrm>
          <a:prstGeom prst="rect">
            <a:avLst/>
          </a:prstGeom>
          <a:noFill/>
          <a:ln/>
        </p:spPr>
        <p:txBody>
          <a:bodyPr wrap="square" lIns="0" tIns="0" rIns="0" bIns="0" rtlCol="0" anchor="ctr"/>
          <a:lstStyle/>
          <a:p>
            <a:pPr algn="r" indent="0" marL="0">
              <a:buNone/>
            </a:pPr>
            <a:r>
              <a:rPr lang="en-US" sz="1100" dirty="0">
                <a:solidFill>
                  <a:srgbClr val="1B2430"/>
                </a:solidFill>
              </a:rPr>
              <a:t>£16,702.50</a:t>
            </a:r>
            <a:endParaRPr lang="en-US" sz="1100" dirty="0"/>
          </a:p>
        </p:txBody>
      </p:sp>
      <p:sp>
        <p:nvSpPr>
          <p:cNvPr id="42" name="Text 40"/>
          <p:cNvSpPr txBox="1"/>
          <p:nvPr/>
        </p:nvSpPr>
        <p:spPr>
          <a:xfrm>
            <a:off x="4983480" y="3886200"/>
            <a:ext cx="502920" cy="566928"/>
          </a:xfrm>
          <a:prstGeom prst="rect">
            <a:avLst/>
          </a:prstGeom>
          <a:noFill/>
          <a:ln/>
        </p:spPr>
        <p:txBody>
          <a:bodyPr wrap="square" lIns="0" tIns="0" rIns="0" bIns="0" rtlCol="0" anchor="ctr"/>
          <a:lstStyle/>
          <a:p>
            <a:pPr algn="r" indent="0" marL="0">
              <a:buNone/>
            </a:pPr>
            <a:r>
              <a:rPr lang="en-US" sz="1100" b="1" dirty="0">
                <a:solidFill>
                  <a:srgbClr val="C0392B"/>
                </a:solidFill>
              </a:rPr>
              <a:t>BLOCK</a:t>
            </a:r>
            <a:endParaRPr lang="en-US" sz="1100" dirty="0"/>
          </a:p>
        </p:txBody>
      </p:sp>
      <p:sp>
        <p:nvSpPr>
          <p:cNvPr id="43" name="stat card"/>
          <p:cNvSpPr/>
          <p:nvPr/>
        </p:nvSpPr>
        <p:spPr>
          <a:xfrm>
            <a:off x="5852160" y="1325880"/>
            <a:ext cx="2834640" cy="1051560"/>
          </a:xfrm>
          <a:prstGeom prst="roundRect">
            <a:avLst>
              <a:gd name="adj" fmla="val 695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4" name="Text 42"/>
          <p:cNvSpPr txBox="1"/>
          <p:nvPr/>
        </p:nvSpPr>
        <p:spPr>
          <a:xfrm>
            <a:off x="6035040" y="1371600"/>
            <a:ext cx="2468880" cy="594360"/>
          </a:xfrm>
          <a:prstGeom prst="rect">
            <a:avLst/>
          </a:prstGeom>
          <a:noFill/>
          <a:ln/>
        </p:spPr>
        <p:txBody>
          <a:bodyPr wrap="square" lIns="0" tIns="0" rIns="0" bIns="0" rtlCol="0" anchor="t"/>
          <a:lstStyle/>
          <a:p>
            <a:pPr indent="0" marL="0">
              <a:buNone/>
            </a:pPr>
            <a:r>
              <a:rPr lang="en-US" sz="3400" b="1" dirty="0">
                <a:solidFill>
                  <a:srgbClr val="D9622B"/>
                </a:solidFill>
                <a:latin typeface="+mj-lt" pitchFamily="34" charset="0"/>
                <a:ea typeface="+mj-lt" pitchFamily="34" charset="-122"/>
                <a:cs typeface="+mj-lt" pitchFamily="34" charset="-120"/>
              </a:rPr>
              <a:t>3 of 10</a:t>
            </a:r>
            <a:endParaRPr lang="en-US" sz="3400" dirty="0"/>
          </a:p>
        </p:txBody>
      </p:sp>
      <p:sp>
        <p:nvSpPr>
          <p:cNvPr id="45" name="Text 43"/>
          <p:cNvSpPr txBox="1"/>
          <p:nvPr/>
        </p:nvSpPr>
        <p:spPr>
          <a:xfrm>
            <a:off x="6035040" y="1938528"/>
            <a:ext cx="2468880" cy="411480"/>
          </a:xfrm>
          <a:prstGeom prst="rect">
            <a:avLst/>
          </a:prstGeom>
          <a:noFill/>
          <a:ln/>
        </p:spPr>
        <p:txBody>
          <a:bodyPr wrap="square" lIns="0" tIns="0" rIns="0" bIns="0" rtlCol="0" anchor="t"/>
          <a:lstStyle/>
          <a:p>
            <a:pPr indent="0" marL="0">
              <a:buNone/>
            </a:pPr>
            <a:r>
              <a:rPr lang="en-US" sz="1100" dirty="0">
                <a:solidFill>
                  <a:srgbClr val="1B2430"/>
                </a:solidFill>
              </a:rPr>
              <a:t>top spenders consented to marketing; 7 must not be contacted</a:t>
            </a:r>
            <a:endParaRPr lang="en-US" sz="1100" dirty="0"/>
          </a:p>
        </p:txBody>
      </p:sp>
      <p:sp>
        <p:nvSpPr>
          <p:cNvPr id="46" name="stat card"/>
          <p:cNvSpPr/>
          <p:nvPr/>
        </p:nvSpPr>
        <p:spPr>
          <a:xfrm>
            <a:off x="5852160" y="2514600"/>
            <a:ext cx="2834640" cy="1005840"/>
          </a:xfrm>
          <a:prstGeom prst="roundRect">
            <a:avLst>
              <a:gd name="adj" fmla="val 7273"/>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7" name="Text 45"/>
          <p:cNvSpPr txBox="1"/>
          <p:nvPr/>
        </p:nvSpPr>
        <p:spPr>
          <a:xfrm>
            <a:off x="6035040" y="2560320"/>
            <a:ext cx="2468880" cy="457200"/>
          </a:xfrm>
          <a:prstGeom prst="rect">
            <a:avLst/>
          </a:prstGeom>
          <a:noFill/>
          <a:ln/>
        </p:spPr>
        <p:txBody>
          <a:bodyPr wrap="square" lIns="0" tIns="0" rIns="0" bIns="0" rtlCol="0" anchor="t"/>
          <a:lstStyle/>
          <a:p>
            <a:pPr indent="0" marL="0">
              <a:buNone/>
            </a:pPr>
            <a:r>
              <a:rPr lang="en-US" sz="2200" b="1" dirty="0">
                <a:solidFill>
                  <a:srgbClr val="5B6B7C"/>
                </a:solidFill>
                <a:latin typeface="+mj-lt" pitchFamily="34" charset="0"/>
                <a:ea typeface="+mj-lt" pitchFamily="34" charset="-122"/>
                <a:cs typeface="+mj-lt" pitchFamily="34" charset="-120"/>
              </a:rPr>
              <a:t>£5,700 vs £5,782</a:t>
            </a:r>
            <a:endParaRPr lang="en-US" sz="2200" dirty="0"/>
          </a:p>
        </p:txBody>
      </p:sp>
      <p:sp>
        <p:nvSpPr>
          <p:cNvPr id="48" name="Text 46"/>
          <p:cNvSpPr txBox="1"/>
          <p:nvPr/>
        </p:nvSpPr>
        <p:spPr>
          <a:xfrm>
            <a:off x="6035040" y="3017520"/>
            <a:ext cx="2468880" cy="457200"/>
          </a:xfrm>
          <a:prstGeom prst="rect">
            <a:avLst/>
          </a:prstGeom>
          <a:noFill/>
          <a:ln/>
        </p:spPr>
        <p:txBody>
          <a:bodyPr wrap="square" lIns="0" tIns="0" rIns="0" bIns="0" rtlCol="0" anchor="t"/>
          <a:lstStyle/>
          <a:p>
            <a:pPr indent="0" marL="0">
              <a:buNone/>
            </a:pPr>
            <a:r>
              <a:rPr lang="en-US" sz="1100" dirty="0">
                <a:solidFill>
                  <a:srgbClr val="1B2430"/>
                </a:solidFill>
              </a:rPr>
              <a:t>avg spend, consent vs no consent (AI-010 claimed consent raises spend; it does not)</a:t>
            </a:r>
            <a:endParaRPr lang="en-US" sz="1100" dirty="0"/>
          </a:p>
        </p:txBody>
      </p:sp>
      <p:sp>
        <p:nvSpPr>
          <p:cNvPr id="49" name="callout card"/>
          <p:cNvSpPr/>
          <p:nvPr/>
        </p:nvSpPr>
        <p:spPr>
          <a:xfrm>
            <a:off x="5852160" y="3657600"/>
            <a:ext cx="2834640" cy="960120"/>
          </a:xfrm>
          <a:prstGeom prst="roundRect">
            <a:avLst>
              <a:gd name="adj" fmla="val 7619"/>
            </a:avLst>
          </a:prstGeom>
          <a:solidFill>
            <a:srgbClr val="1B2430"/>
          </a:solidFill>
          <a:ln w="12700">
            <a:solidFill>
              <a:srgbClr val="1B2430"/>
            </a:solidFill>
            <a:prstDash val="solid"/>
          </a:ln>
        </p:spPr>
      </p:sp>
      <p:sp>
        <p:nvSpPr>
          <p:cNvPr id="50" name="Text 48"/>
          <p:cNvSpPr txBox="1"/>
          <p:nvPr/>
        </p:nvSpPr>
        <p:spPr>
          <a:xfrm>
            <a:off x="5989320" y="3703320"/>
            <a:ext cx="2560320" cy="868680"/>
          </a:xfrm>
          <a:prstGeom prst="rect">
            <a:avLst/>
          </a:prstGeom>
          <a:noFill/>
          <a:ln/>
        </p:spPr>
        <p:txBody>
          <a:bodyPr wrap="square" lIns="0" tIns="0" rIns="0" bIns="0" rtlCol="0" anchor="ctr"/>
          <a:lstStyle/>
          <a:p>
            <a:pPr indent="0" marL="0">
              <a:buNone/>
            </a:pPr>
            <a:r>
              <a:rPr lang="en-US" sz="1200" dirty="0">
                <a:solidFill>
                  <a:srgbClr val="FFFFFF"/>
                </a:solidFill>
              </a:rPr>
              <a:t>AI-015 offered names and emails. Blocked: Customer_ID only, consented customers only, DPO approval.</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AI-013: lowest profit is not the same as poor performance</a:t>
            </a:r>
            <a:endParaRPr lang="en-US" sz="2800" dirty="0"/>
          </a:p>
        </p:txBody>
      </p:sp>
      <p:sp>
        <p:nvSpPr>
          <p:cNvPr id="3" name="Text 1"/>
          <p:cNvSpPr txBox="1"/>
          <p:nvPr/>
        </p:nvSpPr>
        <p:spPr>
          <a:xfrm>
            <a:off x="457200" y="1280160"/>
            <a:ext cx="3931920" cy="274320"/>
          </a:xfrm>
          <a:prstGeom prst="rect">
            <a:avLst/>
          </a:prstGeom>
          <a:noFill/>
          <a:ln/>
        </p:spPr>
        <p:txBody>
          <a:bodyPr wrap="square" lIns="0" tIns="0" rIns="0" bIns="0" rtlCol="0" anchor="t"/>
          <a:lstStyle/>
          <a:p>
            <a:pPr indent="0" marL="0">
              <a:buNone/>
            </a:pPr>
            <a:r>
              <a:rPr lang="en-US" sz="1400" b="1" dirty="0">
                <a:solidFill>
                  <a:srgbClr val="1B2430"/>
                </a:solidFill>
              </a:rPr>
              <a:t>Total profit, £M</a:t>
            </a:r>
            <a:endParaRPr lang="en-US" sz="1400" dirty="0"/>
          </a:p>
        </p:txBody>
      </p:sp>
      <p:graphicFrame>
        <p:nvGraphicFramePr>
          <p:cNvPr id="4" name="Chart 0" descr=""/>
          <p:cNvGraphicFramePr/>
          <p:nvPr/>
        </p:nvGraphicFramePr>
        <p:xfrm>
          <a:off x="365760" y="1554480"/>
          <a:ext cx="4023360" cy="2560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754880" y="1280160"/>
            <a:ext cx="3931920" cy="274320"/>
          </a:xfrm>
          <a:prstGeom prst="rect">
            <a:avLst/>
          </a:prstGeom>
          <a:noFill/>
          <a:ln/>
        </p:spPr>
        <p:txBody>
          <a:bodyPr wrap="square" lIns="0" tIns="0" rIns="0" bIns="0" rtlCol="0" anchor="t"/>
          <a:lstStyle/>
          <a:p>
            <a:pPr indent="0" marL="0">
              <a:buNone/>
            </a:pPr>
            <a:r>
              <a:rPr lang="en-US" sz="1400" b="1" dirty="0">
                <a:solidFill>
                  <a:srgbClr val="1B2430"/>
                </a:solidFill>
              </a:rPr>
              <a:t>Profit margin, %</a:t>
            </a:r>
            <a:endParaRPr lang="en-US" sz="1400" dirty="0"/>
          </a:p>
        </p:txBody>
      </p:sp>
      <p:graphicFrame>
        <p:nvGraphicFramePr>
          <p:cNvPr id="6" name="Chart 1" descr=""/>
          <p:cNvGraphicFramePr/>
          <p:nvPr/>
        </p:nvGraphicFramePr>
        <p:xfrm>
          <a:off x="4663440" y="1554480"/>
          <a:ext cx="4023360" cy="2560320"/>
        </p:xfrm>
        <a:graphic xmlns:a="http://schemas.openxmlformats.org/drawingml/2006/main">
          <a:graphicData uri="http://schemas.openxmlformats.org/drawingml/2006/chart">
            <c:chart xmlns:c="http://schemas.openxmlformats.org/drawingml/2006/chart" r:id="rId2"/>
          </a:graphicData>
        </a:graphic>
      </p:graphicFrame>
      <p:sp>
        <p:nvSpPr>
          <p:cNvPr id="7" name="insight banner"/>
          <p:cNvSpPr/>
          <p:nvPr/>
        </p:nvSpPr>
        <p:spPr>
          <a:xfrm>
            <a:off x="457200" y="4206240"/>
            <a:ext cx="8229600" cy="502920"/>
          </a:xfrm>
          <a:prstGeom prst="roundRect">
            <a:avLst>
              <a:gd name="adj" fmla="val 14545"/>
            </a:avLst>
          </a:prstGeom>
          <a:solidFill>
            <a:srgbClr val="1B2430"/>
          </a:solidFill>
          <a:ln w="12700">
            <a:solidFill>
              <a:srgbClr val="1B2430"/>
            </a:solidFill>
            <a:prstDash val="solid"/>
          </a:ln>
        </p:spPr>
      </p:sp>
      <p:sp>
        <p:nvSpPr>
          <p:cNvPr id="8" name="Text 4"/>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300" dirty="0">
                <a:solidFill>
                  <a:srgbClr val="FFFFFF"/>
                </a:solidFill>
              </a:rPr>
              <a:t>The AI sent management to Home Décor, our best-margin category. Bedroom (36.0%) is the better lead; returns are flat at 4.7 to 5.2%.</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Four ways the AI went wrong</a:t>
            </a:r>
            <a:endParaRPr lang="en-US" sz="2800" dirty="0"/>
          </a:p>
        </p:txBody>
      </p:sp>
      <p:sp>
        <p:nvSpPr>
          <p:cNvPr id="3" name="error card"/>
          <p:cNvSpPr/>
          <p:nvPr/>
        </p:nvSpPr>
        <p:spPr>
          <a:xfrm>
            <a:off x="457200" y="1325880"/>
            <a:ext cx="3977640" cy="1417320"/>
          </a:xfrm>
          <a:prstGeom prst="roundRect">
            <a:avLst>
              <a:gd name="adj" fmla="val 5161"/>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40080" y="1508760"/>
            <a:ext cx="548640" cy="548640"/>
          </a:xfrm>
          <a:prstGeom prst="ellipse">
            <a:avLst/>
          </a:prstGeom>
          <a:solidFill>
            <a:srgbClr val="C0392B"/>
          </a:solidFill>
          <a:ln w="12700">
            <a:solidFill>
              <a:srgbClr val="C0392B"/>
            </a:solidFill>
            <a:prstDash val="solid"/>
          </a:ln>
        </p:spPr>
      </p:sp>
      <p:pic>
        <p:nvPicPr>
          <p:cNvPr id="5" name="Image 0" descr="icon">    </p:cNvPr>
          <p:cNvPicPr>
            <a:picLocks noChangeAspect="1"/>
          </p:cNvPicPr>
          <p:nvPr/>
        </p:nvPicPr>
        <p:blipFill>
          <a:blip r:embed="rId1"/>
          <a:stretch>
            <a:fillRect/>
          </a:stretch>
        </p:blipFill>
        <p:spPr>
          <a:xfrm>
            <a:off x="777240" y="1645920"/>
            <a:ext cx="274320" cy="274320"/>
          </a:xfrm>
          <a:prstGeom prst="rect">
            <a:avLst/>
          </a:prstGeom>
        </p:spPr>
      </p:pic>
      <p:sp>
        <p:nvSpPr>
          <p:cNvPr id="6" name="Text 3"/>
          <p:cNvSpPr txBox="1"/>
          <p:nvPr/>
        </p:nvSpPr>
        <p:spPr>
          <a:xfrm>
            <a:off x="1371600" y="1463040"/>
            <a:ext cx="2926080" cy="320040"/>
          </a:xfrm>
          <a:prstGeom prst="rect">
            <a:avLst/>
          </a:prstGeom>
          <a:noFill/>
          <a:ln/>
        </p:spPr>
        <p:txBody>
          <a:bodyPr wrap="square" lIns="0" tIns="0" rIns="0" bIns="0" rtlCol="0" anchor="t"/>
          <a:lstStyle/>
          <a:p>
            <a:pPr indent="0" marL="0">
              <a:buNone/>
            </a:pPr>
            <a:r>
              <a:rPr lang="en-US" sz="1600" b="1" dirty="0">
                <a:solidFill>
                  <a:srgbClr val="1B2430"/>
                </a:solidFill>
              </a:rPr>
              <a:t>Wrong metric</a:t>
            </a:r>
            <a:endParaRPr lang="en-US" sz="1600" dirty="0"/>
          </a:p>
        </p:txBody>
      </p:sp>
      <p:sp>
        <p:nvSpPr>
          <p:cNvPr id="7" name="Text 4"/>
          <p:cNvSpPr txBox="1"/>
          <p:nvPr/>
        </p:nvSpPr>
        <p:spPr>
          <a:xfrm>
            <a:off x="1371600" y="1801368"/>
            <a:ext cx="2926080" cy="640080"/>
          </a:xfrm>
          <a:prstGeom prst="rect">
            <a:avLst/>
          </a:prstGeom>
          <a:noFill/>
          <a:ln/>
        </p:spPr>
        <p:txBody>
          <a:bodyPr wrap="square" lIns="0" tIns="0" rIns="0" bIns="0" rtlCol="0" anchor="t"/>
          <a:lstStyle/>
          <a:p>
            <a:pPr indent="0" marL="0">
              <a:buNone/>
            </a:pPr>
            <a:r>
              <a:rPr lang="en-US" sz="1200" dirty="0">
                <a:solidFill>
                  <a:srgbClr val="1B2430"/>
                </a:solidFill>
              </a:rPr>
              <a:t>Revenue reported as profit; a 7.4% return rate no definition can reproduce (true: 4.98%).</a:t>
            </a:r>
            <a:endParaRPr lang="en-US" sz="1200" dirty="0"/>
          </a:p>
        </p:txBody>
      </p:sp>
      <p:sp>
        <p:nvSpPr>
          <p:cNvPr id="8" name="Text 5"/>
          <p:cNvSpPr txBox="1"/>
          <p:nvPr/>
        </p:nvSpPr>
        <p:spPr>
          <a:xfrm>
            <a:off x="1371600" y="2441448"/>
            <a:ext cx="2926080" cy="228600"/>
          </a:xfrm>
          <a:prstGeom prst="rect">
            <a:avLst/>
          </a:prstGeom>
          <a:noFill/>
          <a:ln/>
        </p:spPr>
        <p:txBody>
          <a:bodyPr wrap="square" lIns="0" tIns="0" rIns="0" bIns="0" rtlCol="0" anchor="t"/>
          <a:lstStyle/>
          <a:p>
            <a:pPr indent="0" marL="0">
              <a:buNone/>
            </a:pPr>
            <a:r>
              <a:rPr lang="en-US" sz="1100" b="1" dirty="0">
                <a:solidFill>
                  <a:srgbClr val="D9622B"/>
                </a:solidFill>
              </a:rPr>
              <a:t>AI-004, AI-012</a:t>
            </a:r>
            <a:endParaRPr lang="en-US" sz="1100" dirty="0"/>
          </a:p>
        </p:txBody>
      </p:sp>
      <p:sp>
        <p:nvSpPr>
          <p:cNvPr id="9" name="error card"/>
          <p:cNvSpPr/>
          <p:nvPr/>
        </p:nvSpPr>
        <p:spPr>
          <a:xfrm>
            <a:off x="4709160" y="1325880"/>
            <a:ext cx="3977640" cy="1417320"/>
          </a:xfrm>
          <a:prstGeom prst="roundRect">
            <a:avLst>
              <a:gd name="adj" fmla="val 5161"/>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4892040" y="1508760"/>
            <a:ext cx="548640" cy="548640"/>
          </a:xfrm>
          <a:prstGeom prst="ellipse">
            <a:avLst/>
          </a:prstGeom>
          <a:solidFill>
            <a:srgbClr val="E9A23B"/>
          </a:solidFill>
          <a:ln w="12700">
            <a:solidFill>
              <a:srgbClr val="E9A23B"/>
            </a:solidFill>
            <a:prstDash val="solid"/>
          </a:ln>
        </p:spPr>
      </p:sp>
      <p:pic>
        <p:nvPicPr>
          <p:cNvPr id="11" name="Image 1" descr="icon">    </p:cNvPr>
          <p:cNvPicPr>
            <a:picLocks noChangeAspect="1"/>
          </p:cNvPicPr>
          <p:nvPr/>
        </p:nvPicPr>
        <p:blipFill>
          <a:blip r:embed="rId2"/>
          <a:stretch>
            <a:fillRect/>
          </a:stretch>
        </p:blipFill>
        <p:spPr>
          <a:xfrm>
            <a:off x="5029200" y="1645920"/>
            <a:ext cx="274320" cy="274320"/>
          </a:xfrm>
          <a:prstGeom prst="rect">
            <a:avLst/>
          </a:prstGeom>
        </p:spPr>
      </p:pic>
      <p:sp>
        <p:nvSpPr>
          <p:cNvPr id="12" name="Text 8"/>
          <p:cNvSpPr txBox="1"/>
          <p:nvPr/>
        </p:nvSpPr>
        <p:spPr>
          <a:xfrm>
            <a:off x="5623560" y="1463040"/>
            <a:ext cx="2926080" cy="320040"/>
          </a:xfrm>
          <a:prstGeom prst="rect">
            <a:avLst/>
          </a:prstGeom>
          <a:noFill/>
          <a:ln/>
        </p:spPr>
        <p:txBody>
          <a:bodyPr wrap="square" lIns="0" tIns="0" rIns="0" bIns="0" rtlCol="0" anchor="t"/>
          <a:lstStyle/>
          <a:p>
            <a:pPr indent="0" marL="0">
              <a:buNone/>
            </a:pPr>
            <a:r>
              <a:rPr lang="en-US" sz="1600" b="1" dirty="0">
                <a:solidFill>
                  <a:srgbClr val="1B2430"/>
                </a:solidFill>
              </a:rPr>
              <a:t>Wrong scope</a:t>
            </a:r>
            <a:endParaRPr lang="en-US" sz="1600" dirty="0"/>
          </a:p>
        </p:txBody>
      </p:sp>
      <p:sp>
        <p:nvSpPr>
          <p:cNvPr id="13" name="Text 9"/>
          <p:cNvSpPr txBox="1"/>
          <p:nvPr/>
        </p:nvSpPr>
        <p:spPr>
          <a:xfrm>
            <a:off x="5623560" y="1801368"/>
            <a:ext cx="2926080" cy="640080"/>
          </a:xfrm>
          <a:prstGeom prst="rect">
            <a:avLst/>
          </a:prstGeom>
          <a:noFill/>
          <a:ln/>
        </p:spPr>
        <p:txBody>
          <a:bodyPr wrap="square" lIns="0" tIns="0" rIns="0" bIns="0" rtlCol="0" anchor="t"/>
          <a:lstStyle/>
          <a:p>
            <a:pPr indent="0" marL="0">
              <a:buNone/>
            </a:pPr>
            <a:r>
              <a:rPr lang="en-US" sz="1200" dirty="0">
                <a:solidFill>
                  <a:srgbClr val="1B2430"/>
                </a:solidFill>
              </a:rPr>
              <a:t>Cancelled orders included 'for completeness', inflating revenue by 9.3%.</a:t>
            </a:r>
            <a:endParaRPr lang="en-US" sz="1200" dirty="0"/>
          </a:p>
        </p:txBody>
      </p:sp>
      <p:sp>
        <p:nvSpPr>
          <p:cNvPr id="14" name="Text 10"/>
          <p:cNvSpPr txBox="1"/>
          <p:nvPr/>
        </p:nvSpPr>
        <p:spPr>
          <a:xfrm>
            <a:off x="5623560" y="2441448"/>
            <a:ext cx="2926080" cy="228600"/>
          </a:xfrm>
          <a:prstGeom prst="rect">
            <a:avLst/>
          </a:prstGeom>
          <a:noFill/>
          <a:ln/>
        </p:spPr>
        <p:txBody>
          <a:bodyPr wrap="square" lIns="0" tIns="0" rIns="0" bIns="0" rtlCol="0" anchor="t"/>
          <a:lstStyle/>
          <a:p>
            <a:pPr indent="0" marL="0">
              <a:buNone/>
            </a:pPr>
            <a:r>
              <a:rPr lang="en-US" sz="1100" b="1" dirty="0">
                <a:solidFill>
                  <a:srgbClr val="D9622B"/>
                </a:solidFill>
              </a:rPr>
              <a:t>AI-008</a:t>
            </a:r>
            <a:endParaRPr lang="en-US" sz="1100" dirty="0"/>
          </a:p>
        </p:txBody>
      </p:sp>
      <p:sp>
        <p:nvSpPr>
          <p:cNvPr id="15" name="error card"/>
          <p:cNvSpPr/>
          <p:nvPr/>
        </p:nvSpPr>
        <p:spPr>
          <a:xfrm>
            <a:off x="457200" y="2880360"/>
            <a:ext cx="3977640" cy="1417320"/>
          </a:xfrm>
          <a:prstGeom prst="roundRect">
            <a:avLst>
              <a:gd name="adj" fmla="val 5161"/>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640080" y="3063240"/>
            <a:ext cx="548640" cy="548640"/>
          </a:xfrm>
          <a:prstGeom prst="ellipse">
            <a:avLst/>
          </a:prstGeom>
          <a:solidFill>
            <a:srgbClr val="D9622B"/>
          </a:solidFill>
          <a:ln w="12700">
            <a:solidFill>
              <a:srgbClr val="D9622B"/>
            </a:solidFill>
            <a:prstDash val="solid"/>
          </a:ln>
        </p:spPr>
      </p:sp>
      <p:pic>
        <p:nvPicPr>
          <p:cNvPr id="17" name="Image 2" descr="icon">    </p:cNvPr>
          <p:cNvPicPr>
            <a:picLocks noChangeAspect="1"/>
          </p:cNvPicPr>
          <p:nvPr/>
        </p:nvPicPr>
        <p:blipFill>
          <a:blip r:embed="rId3"/>
          <a:stretch>
            <a:fillRect/>
          </a:stretch>
        </p:blipFill>
        <p:spPr>
          <a:xfrm>
            <a:off x="777240" y="3200400"/>
            <a:ext cx="274320" cy="274320"/>
          </a:xfrm>
          <a:prstGeom prst="rect">
            <a:avLst/>
          </a:prstGeom>
        </p:spPr>
      </p:pic>
      <p:sp>
        <p:nvSpPr>
          <p:cNvPr id="18" name="Text 13"/>
          <p:cNvSpPr txBox="1"/>
          <p:nvPr/>
        </p:nvSpPr>
        <p:spPr>
          <a:xfrm>
            <a:off x="1371600" y="3017520"/>
            <a:ext cx="2926080" cy="320040"/>
          </a:xfrm>
          <a:prstGeom prst="rect">
            <a:avLst/>
          </a:prstGeom>
          <a:noFill/>
          <a:ln/>
        </p:spPr>
        <p:txBody>
          <a:bodyPr wrap="square" lIns="0" tIns="0" rIns="0" bIns="0" rtlCol="0" anchor="t"/>
          <a:lstStyle/>
          <a:p>
            <a:pPr indent="0" marL="0">
              <a:buNone/>
            </a:pPr>
            <a:r>
              <a:rPr lang="en-US" sz="1600" b="1" dirty="0">
                <a:solidFill>
                  <a:srgbClr val="1B2430"/>
                </a:solidFill>
              </a:rPr>
              <a:t>Wrong inference</a:t>
            </a:r>
            <a:endParaRPr lang="en-US" sz="1600" dirty="0"/>
          </a:p>
        </p:txBody>
      </p:sp>
      <p:sp>
        <p:nvSpPr>
          <p:cNvPr id="19" name="Text 14"/>
          <p:cNvSpPr txBox="1"/>
          <p:nvPr/>
        </p:nvSpPr>
        <p:spPr>
          <a:xfrm>
            <a:off x="1371600" y="3355848"/>
            <a:ext cx="2926080" cy="640080"/>
          </a:xfrm>
          <a:prstGeom prst="rect">
            <a:avLst/>
          </a:prstGeom>
          <a:noFill/>
          <a:ln/>
        </p:spPr>
        <p:txBody>
          <a:bodyPr wrap="square" lIns="0" tIns="0" rIns="0" bIns="0" rtlCol="0" anchor="t"/>
          <a:lstStyle/>
          <a:p>
            <a:pPr indent="0" marL="0">
              <a:buNone/>
            </a:pPr>
            <a:r>
              <a:rPr lang="en-US" sz="1200" dirty="0">
                <a:solidFill>
                  <a:srgbClr val="1B2430"/>
                </a:solidFill>
              </a:rPr>
              <a:t>Correlation read as causation; 'lowest profit' read as 'poor performance'; revenue used to explain profit.</a:t>
            </a:r>
            <a:endParaRPr lang="en-US" sz="1200" dirty="0"/>
          </a:p>
        </p:txBody>
      </p:sp>
      <p:sp>
        <p:nvSpPr>
          <p:cNvPr id="20" name="Text 15"/>
          <p:cNvSpPr txBox="1"/>
          <p:nvPr/>
        </p:nvSpPr>
        <p:spPr>
          <a:xfrm>
            <a:off x="1371600" y="3995928"/>
            <a:ext cx="2926080" cy="228600"/>
          </a:xfrm>
          <a:prstGeom prst="rect">
            <a:avLst/>
          </a:prstGeom>
          <a:noFill/>
          <a:ln/>
        </p:spPr>
        <p:txBody>
          <a:bodyPr wrap="square" lIns="0" tIns="0" rIns="0" bIns="0" rtlCol="0" anchor="t"/>
          <a:lstStyle/>
          <a:p>
            <a:pPr indent="0" marL="0">
              <a:buNone/>
            </a:pPr>
            <a:r>
              <a:rPr lang="en-US" sz="1100" b="1" dirty="0">
                <a:solidFill>
                  <a:srgbClr val="D9622B"/>
                </a:solidFill>
              </a:rPr>
              <a:t>AI-007, 010, 013, 014</a:t>
            </a:r>
            <a:endParaRPr lang="en-US" sz="1100" dirty="0"/>
          </a:p>
        </p:txBody>
      </p:sp>
      <p:sp>
        <p:nvSpPr>
          <p:cNvPr id="21" name="error card"/>
          <p:cNvSpPr/>
          <p:nvPr/>
        </p:nvSpPr>
        <p:spPr>
          <a:xfrm>
            <a:off x="4709160" y="2880360"/>
            <a:ext cx="3977640" cy="1417320"/>
          </a:xfrm>
          <a:prstGeom prst="roundRect">
            <a:avLst>
              <a:gd name="adj" fmla="val 5161"/>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4892040" y="3063240"/>
            <a:ext cx="548640" cy="548640"/>
          </a:xfrm>
          <a:prstGeom prst="ellipse">
            <a:avLst/>
          </a:prstGeom>
          <a:solidFill>
            <a:srgbClr val="2D3A4A"/>
          </a:solidFill>
          <a:ln w="12700">
            <a:solidFill>
              <a:srgbClr val="2D3A4A"/>
            </a:solidFill>
            <a:prstDash val="solid"/>
          </a:ln>
        </p:spPr>
      </p:sp>
      <p:pic>
        <p:nvPicPr>
          <p:cNvPr id="23" name="Image 3" descr="icon">    </p:cNvPr>
          <p:cNvPicPr>
            <a:picLocks noChangeAspect="1"/>
          </p:cNvPicPr>
          <p:nvPr/>
        </p:nvPicPr>
        <p:blipFill>
          <a:blip r:embed="rId4"/>
          <a:stretch>
            <a:fillRect/>
          </a:stretch>
        </p:blipFill>
        <p:spPr>
          <a:xfrm>
            <a:off x="5029200" y="3200400"/>
            <a:ext cx="274320" cy="274320"/>
          </a:xfrm>
          <a:prstGeom prst="rect">
            <a:avLst/>
          </a:prstGeom>
        </p:spPr>
      </p:pic>
      <p:sp>
        <p:nvSpPr>
          <p:cNvPr id="24" name="Text 18"/>
          <p:cNvSpPr txBox="1"/>
          <p:nvPr/>
        </p:nvSpPr>
        <p:spPr>
          <a:xfrm>
            <a:off x="5623560" y="3017520"/>
            <a:ext cx="2926080" cy="320040"/>
          </a:xfrm>
          <a:prstGeom prst="rect">
            <a:avLst/>
          </a:prstGeom>
          <a:noFill/>
          <a:ln/>
        </p:spPr>
        <p:txBody>
          <a:bodyPr wrap="square" lIns="0" tIns="0" rIns="0" bIns="0" rtlCol="0" anchor="t"/>
          <a:lstStyle/>
          <a:p>
            <a:pPr indent="0" marL="0">
              <a:buNone/>
            </a:pPr>
            <a:r>
              <a:rPr lang="en-US" sz="1600" b="1" dirty="0">
                <a:solidFill>
                  <a:srgbClr val="1B2430"/>
                </a:solidFill>
              </a:rPr>
              <a:t>Governance</a:t>
            </a:r>
            <a:endParaRPr lang="en-US" sz="1600" dirty="0"/>
          </a:p>
        </p:txBody>
      </p:sp>
      <p:sp>
        <p:nvSpPr>
          <p:cNvPr id="25" name="Text 19"/>
          <p:cNvSpPr txBox="1"/>
          <p:nvPr/>
        </p:nvSpPr>
        <p:spPr>
          <a:xfrm>
            <a:off x="5623560" y="3355848"/>
            <a:ext cx="2926080" cy="640080"/>
          </a:xfrm>
          <a:prstGeom prst="rect">
            <a:avLst/>
          </a:prstGeom>
          <a:noFill/>
          <a:ln/>
        </p:spPr>
        <p:txBody>
          <a:bodyPr wrap="square" lIns="0" tIns="0" rIns="0" bIns="0" rtlCol="0" anchor="t"/>
          <a:lstStyle/>
          <a:p>
            <a:pPr indent="0" marL="0">
              <a:buNone/>
            </a:pPr>
            <a:r>
              <a:rPr lang="en-US" sz="1200" dirty="0">
                <a:solidFill>
                  <a:srgbClr val="1B2430"/>
                </a:solidFill>
              </a:rPr>
              <a:t>Personal data offered on request; outreach recommended with no consent check.</a:t>
            </a:r>
            <a:endParaRPr lang="en-US" sz="1200" dirty="0"/>
          </a:p>
        </p:txBody>
      </p:sp>
      <p:sp>
        <p:nvSpPr>
          <p:cNvPr id="26" name="Text 20"/>
          <p:cNvSpPr txBox="1"/>
          <p:nvPr/>
        </p:nvSpPr>
        <p:spPr>
          <a:xfrm>
            <a:off x="5623560" y="3995928"/>
            <a:ext cx="2926080" cy="228600"/>
          </a:xfrm>
          <a:prstGeom prst="rect">
            <a:avLst/>
          </a:prstGeom>
          <a:noFill/>
          <a:ln/>
        </p:spPr>
        <p:txBody>
          <a:bodyPr wrap="square" lIns="0" tIns="0" rIns="0" bIns="0" rtlCol="0" anchor="t"/>
          <a:lstStyle/>
          <a:p>
            <a:pPr indent="0" marL="0">
              <a:buNone/>
            </a:pPr>
            <a:r>
              <a:rPr lang="en-US" sz="1100" b="1" dirty="0">
                <a:solidFill>
                  <a:srgbClr val="D9622B"/>
                </a:solidFill>
              </a:rPr>
              <a:t>AI-011, AI-015</a:t>
            </a:r>
            <a:endParaRPr lang="en-US" sz="1100" dirty="0"/>
          </a:p>
        </p:txBody>
      </p:sp>
      <p:sp>
        <p:nvSpPr>
          <p:cNvPr id="27" name="Text 21"/>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200" dirty="0">
                <a:solidFill>
                  <a:srgbClr val="5B6B7C"/>
                </a:solidFill>
              </a:rPr>
              <a:t>Right but not decision-ready: AI-006 and AI-009 are correct, yet rest on 0.6% leads and one year of data.</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Correct answers only match after data preparation</a:t>
            </a:r>
            <a:endParaRPr lang="en-US" sz="2800" dirty="0"/>
          </a:p>
        </p:txBody>
      </p:sp>
      <p:sp>
        <p:nvSpPr>
          <p:cNvPr id="3" name="stat card"/>
          <p:cNvSpPr/>
          <p:nvPr/>
        </p:nvSpPr>
        <p:spPr>
          <a:xfrm>
            <a:off x="457200" y="1325880"/>
            <a:ext cx="1920240" cy="2148840"/>
          </a:xfrm>
          <a:prstGeom prst="roundRect">
            <a:avLst>
              <a:gd name="adj" fmla="val 381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463040"/>
            <a:ext cx="1554480" cy="731520"/>
          </a:xfrm>
          <a:prstGeom prst="rect">
            <a:avLst/>
          </a:prstGeom>
          <a:noFill/>
          <a:ln/>
        </p:spPr>
        <p:txBody>
          <a:bodyPr wrap="square" lIns="0" tIns="0" rIns="0" bIns="0" rtlCol="0" anchor="t"/>
          <a:lstStyle/>
          <a:p>
            <a:pPr indent="0" marL="0">
              <a:buNone/>
            </a:pPr>
            <a:r>
              <a:rPr lang="en-US" sz="4800" b="1" dirty="0">
                <a:solidFill>
                  <a:srgbClr val="D9622B"/>
                </a:solidFill>
                <a:latin typeface="+mj-lt" pitchFamily="34" charset="0"/>
                <a:ea typeface="+mj-lt" pitchFamily="34" charset="-122"/>
                <a:cs typeface="+mj-lt" pitchFamily="34" charset="-120"/>
              </a:rPr>
              <a:t>45</a:t>
            </a:r>
            <a:endParaRPr lang="en-US" sz="4800" dirty="0"/>
          </a:p>
        </p:txBody>
      </p:sp>
      <p:sp>
        <p:nvSpPr>
          <p:cNvPr id="5" name="Text 3"/>
          <p:cNvSpPr txBox="1"/>
          <p:nvPr/>
        </p:nvSpPr>
        <p:spPr>
          <a:xfrm>
            <a:off x="640080" y="2240280"/>
            <a:ext cx="1554480" cy="502920"/>
          </a:xfrm>
          <a:prstGeom prst="rect">
            <a:avLst/>
          </a:prstGeom>
          <a:noFill/>
          <a:ln/>
        </p:spPr>
        <p:txBody>
          <a:bodyPr wrap="square" lIns="0" tIns="0" rIns="0" bIns="0" rtlCol="0" anchor="t"/>
          <a:lstStyle/>
          <a:p>
            <a:pPr indent="0" marL="0">
              <a:buNone/>
            </a:pPr>
            <a:r>
              <a:rPr lang="en-US" sz="1400" b="1" dirty="0">
                <a:solidFill>
                  <a:srgbClr val="1B2430"/>
                </a:solidFill>
              </a:rPr>
              <a:t>duplicate order lines</a:t>
            </a:r>
            <a:endParaRPr lang="en-US" sz="1400" dirty="0"/>
          </a:p>
        </p:txBody>
      </p:sp>
      <p:sp>
        <p:nvSpPr>
          <p:cNvPr id="6" name="Text 4"/>
          <p:cNvSpPr txBox="1"/>
          <p:nvPr/>
        </p:nvSpPr>
        <p:spPr>
          <a:xfrm>
            <a:off x="640080" y="2743200"/>
            <a:ext cx="1554480" cy="640080"/>
          </a:xfrm>
          <a:prstGeom prst="rect">
            <a:avLst/>
          </a:prstGeom>
          <a:noFill/>
          <a:ln/>
        </p:spPr>
        <p:txBody>
          <a:bodyPr wrap="square" lIns="0" tIns="0" rIns="0" bIns="0" rtlCol="0" anchor="t"/>
          <a:lstStyle/>
          <a:p>
            <a:pPr indent="0" marL="0">
              <a:buNone/>
            </a:pPr>
            <a:r>
              <a:rPr lang="en-US" sz="1200" dirty="0">
                <a:solidFill>
                  <a:srgbClr val="5B6B7C"/>
                </a:solidFill>
              </a:rPr>
              <a:t>Revenue +£19,206.70 if kept</a:t>
            </a:r>
            <a:endParaRPr lang="en-US" sz="1200" dirty="0"/>
          </a:p>
        </p:txBody>
      </p:sp>
      <p:sp>
        <p:nvSpPr>
          <p:cNvPr id="7" name="stat card"/>
          <p:cNvSpPr/>
          <p:nvPr/>
        </p:nvSpPr>
        <p:spPr>
          <a:xfrm>
            <a:off x="2560320" y="1325880"/>
            <a:ext cx="1920240" cy="2148840"/>
          </a:xfrm>
          <a:prstGeom prst="roundRect">
            <a:avLst>
              <a:gd name="adj" fmla="val 381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2743200" y="1463040"/>
            <a:ext cx="1554480" cy="731520"/>
          </a:xfrm>
          <a:prstGeom prst="rect">
            <a:avLst/>
          </a:prstGeom>
          <a:noFill/>
          <a:ln/>
        </p:spPr>
        <p:txBody>
          <a:bodyPr wrap="square" lIns="0" tIns="0" rIns="0" bIns="0" rtlCol="0" anchor="t"/>
          <a:lstStyle/>
          <a:p>
            <a:pPr indent="0" marL="0">
              <a:buNone/>
            </a:pPr>
            <a:r>
              <a:rPr lang="en-US" sz="4800" b="1" dirty="0">
                <a:solidFill>
                  <a:srgbClr val="D9622B"/>
                </a:solidFill>
                <a:latin typeface="+mj-lt" pitchFamily="34" charset="0"/>
                <a:ea typeface="+mj-lt" pitchFamily="34" charset="-122"/>
                <a:cs typeface="+mj-lt" pitchFamily="34" charset="-120"/>
              </a:rPr>
              <a:t>30</a:t>
            </a:r>
            <a:endParaRPr lang="en-US" sz="4800" dirty="0"/>
          </a:p>
        </p:txBody>
      </p:sp>
      <p:sp>
        <p:nvSpPr>
          <p:cNvPr id="9" name="Text 7"/>
          <p:cNvSpPr txBox="1"/>
          <p:nvPr/>
        </p:nvSpPr>
        <p:spPr>
          <a:xfrm>
            <a:off x="2743200" y="2240280"/>
            <a:ext cx="1554480" cy="502920"/>
          </a:xfrm>
          <a:prstGeom prst="rect">
            <a:avLst/>
          </a:prstGeom>
          <a:noFill/>
          <a:ln/>
        </p:spPr>
        <p:txBody>
          <a:bodyPr wrap="square" lIns="0" tIns="0" rIns="0" bIns="0" rtlCol="0" anchor="t"/>
          <a:lstStyle/>
          <a:p>
            <a:pPr indent="0" marL="0">
              <a:buNone/>
            </a:pPr>
            <a:r>
              <a:rPr lang="en-US" sz="1400" b="1" dirty="0">
                <a:solidFill>
                  <a:srgbClr val="1B2430"/>
                </a:solidFill>
              </a:rPr>
              <a:t>dates in a second text format</a:t>
            </a:r>
            <a:endParaRPr lang="en-US" sz="1400" dirty="0"/>
          </a:p>
        </p:txBody>
      </p:sp>
      <p:sp>
        <p:nvSpPr>
          <p:cNvPr id="10" name="Text 8"/>
          <p:cNvSpPr txBox="1"/>
          <p:nvPr/>
        </p:nvSpPr>
        <p:spPr>
          <a:xfrm>
            <a:off x="2743200" y="2743200"/>
            <a:ext cx="1554480" cy="640080"/>
          </a:xfrm>
          <a:prstGeom prst="rect">
            <a:avLst/>
          </a:prstGeom>
          <a:noFill/>
          <a:ln/>
        </p:spPr>
        <p:txBody>
          <a:bodyPr wrap="square" lIns="0" tIns="0" rIns="0" bIns="0" rtlCol="0" anchor="t"/>
          <a:lstStyle/>
          <a:p>
            <a:pPr indent="0" marL="0">
              <a:buNone/>
            </a:pPr>
            <a:r>
              <a:rPr lang="en-US" sz="1200" dirty="0">
                <a:solidFill>
                  <a:srgbClr val="5B6B7C"/>
                </a:solidFill>
              </a:rPr>
              <a:t>Needed for the month answer (AI-009)</a:t>
            </a:r>
            <a:endParaRPr lang="en-US" sz="1200" dirty="0"/>
          </a:p>
        </p:txBody>
      </p:sp>
      <p:sp>
        <p:nvSpPr>
          <p:cNvPr id="11" name="stat card"/>
          <p:cNvSpPr/>
          <p:nvPr/>
        </p:nvSpPr>
        <p:spPr>
          <a:xfrm>
            <a:off x="4663440" y="1325880"/>
            <a:ext cx="1920240" cy="2148840"/>
          </a:xfrm>
          <a:prstGeom prst="roundRect">
            <a:avLst>
              <a:gd name="adj" fmla="val 381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846320" y="1463040"/>
            <a:ext cx="1554480" cy="731520"/>
          </a:xfrm>
          <a:prstGeom prst="rect">
            <a:avLst/>
          </a:prstGeom>
          <a:noFill/>
          <a:ln/>
        </p:spPr>
        <p:txBody>
          <a:bodyPr wrap="square" lIns="0" tIns="0" rIns="0" bIns="0" rtlCol="0" anchor="t"/>
          <a:lstStyle/>
          <a:p>
            <a:pPr indent="0" marL="0">
              <a:buNone/>
            </a:pPr>
            <a:r>
              <a:rPr lang="en-US" sz="4800" b="1" dirty="0">
                <a:solidFill>
                  <a:srgbClr val="D9622B"/>
                </a:solidFill>
                <a:latin typeface="+mj-lt" pitchFamily="34" charset="0"/>
                <a:ea typeface="+mj-lt" pitchFamily="34" charset="-122"/>
                <a:cs typeface="+mj-lt" pitchFamily="34" charset="-120"/>
              </a:rPr>
              <a:t>35</a:t>
            </a:r>
            <a:endParaRPr lang="en-US" sz="4800" dirty="0"/>
          </a:p>
        </p:txBody>
      </p:sp>
      <p:sp>
        <p:nvSpPr>
          <p:cNvPr id="13" name="Text 11"/>
          <p:cNvSpPr txBox="1"/>
          <p:nvPr/>
        </p:nvSpPr>
        <p:spPr>
          <a:xfrm>
            <a:off x="4846320" y="2240280"/>
            <a:ext cx="1554480" cy="502920"/>
          </a:xfrm>
          <a:prstGeom prst="rect">
            <a:avLst/>
          </a:prstGeom>
          <a:noFill/>
          <a:ln/>
        </p:spPr>
        <p:txBody>
          <a:bodyPr wrap="square" lIns="0" tIns="0" rIns="0" bIns="0" rtlCol="0" anchor="t"/>
          <a:lstStyle/>
          <a:p>
            <a:pPr indent="0" marL="0">
              <a:buNone/>
            </a:pPr>
            <a:r>
              <a:rPr lang="en-US" sz="1400" b="1" dirty="0">
                <a:solidFill>
                  <a:srgbClr val="1B2430"/>
                </a:solidFill>
              </a:rPr>
              <a:t>inconsistent channel labels</a:t>
            </a:r>
            <a:endParaRPr lang="en-US" sz="1400" dirty="0"/>
          </a:p>
        </p:txBody>
      </p:sp>
      <p:sp>
        <p:nvSpPr>
          <p:cNvPr id="14" name="Text 12"/>
          <p:cNvSpPr txBox="1"/>
          <p:nvPr/>
        </p:nvSpPr>
        <p:spPr>
          <a:xfrm>
            <a:off x="4846320" y="2743200"/>
            <a:ext cx="1554480" cy="640080"/>
          </a:xfrm>
          <a:prstGeom prst="rect">
            <a:avLst/>
          </a:prstGeom>
          <a:noFill/>
          <a:ln/>
        </p:spPr>
        <p:txBody>
          <a:bodyPr wrap="square" lIns="0" tIns="0" rIns="0" bIns="0" rtlCol="0" anchor="t"/>
          <a:lstStyle/>
          <a:p>
            <a:pPr indent="0" marL="0">
              <a:buNone/>
            </a:pPr>
            <a:r>
              <a:rPr lang="en-US" sz="1200" dirty="0">
                <a:solidFill>
                  <a:srgbClr val="5B6B7C"/>
                </a:solidFill>
              </a:rPr>
              <a:t>9 labels collapse to 3 (AI-005)</a:t>
            </a:r>
            <a:endParaRPr lang="en-US" sz="1200" dirty="0"/>
          </a:p>
        </p:txBody>
      </p:sp>
      <p:sp>
        <p:nvSpPr>
          <p:cNvPr id="15" name="stat card"/>
          <p:cNvSpPr/>
          <p:nvPr/>
        </p:nvSpPr>
        <p:spPr>
          <a:xfrm>
            <a:off x="6766560" y="1325880"/>
            <a:ext cx="1920240" cy="2148840"/>
          </a:xfrm>
          <a:prstGeom prst="roundRect">
            <a:avLst>
              <a:gd name="adj" fmla="val 381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949440" y="1463040"/>
            <a:ext cx="1554480" cy="731520"/>
          </a:xfrm>
          <a:prstGeom prst="rect">
            <a:avLst/>
          </a:prstGeom>
          <a:noFill/>
          <a:ln/>
        </p:spPr>
        <p:txBody>
          <a:bodyPr wrap="square" lIns="0" tIns="0" rIns="0" bIns="0" rtlCol="0" anchor="t"/>
          <a:lstStyle/>
          <a:p>
            <a:pPr indent="0" marL="0">
              <a:buNone/>
            </a:pPr>
            <a:r>
              <a:rPr lang="en-US" sz="4800" b="1" dirty="0">
                <a:solidFill>
                  <a:srgbClr val="D9622B"/>
                </a:solidFill>
                <a:latin typeface="+mj-lt" pitchFamily="34" charset="0"/>
                <a:ea typeface="+mj-lt" pitchFamily="34" charset="-122"/>
                <a:cs typeface="+mj-lt" pitchFamily="34" charset="-120"/>
              </a:rPr>
              <a:t>8</a:t>
            </a:r>
            <a:endParaRPr lang="en-US" sz="4800" dirty="0"/>
          </a:p>
        </p:txBody>
      </p:sp>
      <p:sp>
        <p:nvSpPr>
          <p:cNvPr id="17" name="Text 15"/>
          <p:cNvSpPr txBox="1"/>
          <p:nvPr/>
        </p:nvSpPr>
        <p:spPr>
          <a:xfrm>
            <a:off x="6949440" y="2240280"/>
            <a:ext cx="1554480" cy="502920"/>
          </a:xfrm>
          <a:prstGeom prst="rect">
            <a:avLst/>
          </a:prstGeom>
          <a:noFill/>
          <a:ln/>
        </p:spPr>
        <p:txBody>
          <a:bodyPr wrap="square" lIns="0" tIns="0" rIns="0" bIns="0" rtlCol="0" anchor="t"/>
          <a:lstStyle/>
          <a:p>
            <a:pPr indent="0" marL="0">
              <a:buNone/>
            </a:pPr>
            <a:r>
              <a:rPr lang="en-US" sz="1400" b="1" dirty="0">
                <a:solidFill>
                  <a:srgbClr val="1B2430"/>
                </a:solidFill>
              </a:rPr>
              <a:t>internal test-account orders</a:t>
            </a:r>
            <a:endParaRPr lang="en-US" sz="1400" dirty="0"/>
          </a:p>
        </p:txBody>
      </p:sp>
      <p:sp>
        <p:nvSpPr>
          <p:cNvPr id="18" name="Text 16"/>
          <p:cNvSpPr txBox="1"/>
          <p:nvPr/>
        </p:nvSpPr>
        <p:spPr>
          <a:xfrm>
            <a:off x="6949440" y="2743200"/>
            <a:ext cx="1554480" cy="640080"/>
          </a:xfrm>
          <a:prstGeom prst="rect">
            <a:avLst/>
          </a:prstGeom>
          <a:noFill/>
          <a:ln/>
        </p:spPr>
        <p:txBody>
          <a:bodyPr wrap="square" lIns="0" tIns="0" rIns="0" bIns="0" rtlCol="0" anchor="t"/>
          <a:lstStyle/>
          <a:p>
            <a:pPr indent="0" marL="0">
              <a:buNone/>
            </a:pPr>
            <a:r>
              <a:rPr lang="en-US" sz="1200" dirty="0">
                <a:solidFill>
                  <a:srgbClr val="5B6B7C"/>
                </a:solidFill>
              </a:rPr>
              <a:t>21,339 vs 21,331 orders (AI-003)</a:t>
            </a:r>
            <a:endParaRPr lang="en-US" sz="1200" dirty="0"/>
          </a:p>
        </p:txBody>
      </p:sp>
      <p:sp>
        <p:nvSpPr>
          <p:cNvPr id="19" name="insight banner"/>
          <p:cNvSpPr/>
          <p:nvPr/>
        </p:nvSpPr>
        <p:spPr>
          <a:xfrm>
            <a:off x="457200" y="3703320"/>
            <a:ext cx="8229600" cy="914400"/>
          </a:xfrm>
          <a:prstGeom prst="roundRect">
            <a:avLst>
              <a:gd name="adj" fmla="val 8000"/>
            </a:avLst>
          </a:prstGeom>
          <a:solidFill>
            <a:srgbClr val="1B2430"/>
          </a:solidFill>
          <a:ln w="12700">
            <a:solidFill>
              <a:srgbClr val="1B2430"/>
            </a:solidFill>
            <a:prstDash val="solid"/>
          </a:ln>
        </p:spPr>
      </p:sp>
      <p:sp>
        <p:nvSpPr>
          <p:cNvPr id="20" name="Text 18"/>
          <p:cNvSpPr txBox="1"/>
          <p:nvPr/>
        </p:nvSpPr>
        <p:spPr>
          <a:xfrm>
            <a:off x="685800" y="3749040"/>
            <a:ext cx="7772400" cy="822960"/>
          </a:xfrm>
          <a:prstGeom prst="rect">
            <a:avLst/>
          </a:prstGeom>
          <a:noFill/>
          <a:ln/>
        </p:spPr>
        <p:txBody>
          <a:bodyPr wrap="square" lIns="0" tIns="0" rIns="0" bIns="0" rtlCol="0" anchor="ctr"/>
          <a:lstStyle/>
          <a:p>
            <a:pPr indent="0" marL="0">
              <a:buNone/>
            </a:pPr>
            <a:r>
              <a:rPr lang="en-US" sz="1400" dirty="0">
                <a:solidFill>
                  <a:srgbClr val="FFFFFF"/>
                </a:solidFill>
              </a:rPr>
              <a:t>Anyone summing the raw sheet could wrongly reject a correct AI answer. Rows were flagged or set aside, never silently deleted, and each treatment is documented against the Business_Rules.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The fix: a validation layer between AI and manager</a:t>
            </a:r>
            <a:endParaRPr lang="en-US" sz="2800" dirty="0"/>
          </a:p>
        </p:txBody>
      </p:sp>
      <p:sp>
        <p:nvSpPr>
          <p:cNvPr id="3" name="flow step"/>
          <p:cNvSpPr/>
          <p:nvPr/>
        </p:nvSpPr>
        <p:spPr>
          <a:xfrm>
            <a:off x="457200" y="1325880"/>
            <a:ext cx="1463040" cy="1600200"/>
          </a:xfrm>
          <a:prstGeom prst="roundRect">
            <a:avLst>
              <a:gd name="adj" fmla="val 500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66928" y="1417320"/>
            <a:ext cx="1243584" cy="457200"/>
          </a:xfrm>
          <a:prstGeom prst="rect">
            <a:avLst/>
          </a:prstGeom>
          <a:noFill/>
          <a:ln/>
        </p:spPr>
        <p:txBody>
          <a:bodyPr wrap="square" lIns="0" tIns="0" rIns="0" bIns="0" rtlCol="0" anchor="t"/>
          <a:lstStyle/>
          <a:p>
            <a:pPr indent="0" marL="0">
              <a:buNone/>
            </a:pPr>
            <a:r>
              <a:rPr lang="en-US" sz="1400" b="1" dirty="0">
                <a:solidFill>
                  <a:srgbClr val="1B2430"/>
                </a:solidFill>
              </a:rPr>
              <a:t>Manager asks</a:t>
            </a:r>
            <a:endParaRPr lang="en-US" sz="1400" dirty="0"/>
          </a:p>
        </p:txBody>
      </p:sp>
      <p:sp>
        <p:nvSpPr>
          <p:cNvPr id="5" name="Text 3"/>
          <p:cNvSpPr txBox="1"/>
          <p:nvPr/>
        </p:nvSpPr>
        <p:spPr>
          <a:xfrm>
            <a:off x="566928" y="1892808"/>
            <a:ext cx="1243584" cy="1005840"/>
          </a:xfrm>
          <a:prstGeom prst="rect">
            <a:avLst/>
          </a:prstGeom>
          <a:noFill/>
          <a:ln/>
        </p:spPr>
        <p:txBody>
          <a:bodyPr wrap="square" lIns="0" tIns="0" rIns="0" bIns="0" rtlCol="0" anchor="t"/>
          <a:lstStyle/>
          <a:p>
            <a:pPr indent="0" marL="0">
              <a:buNone/>
            </a:pPr>
            <a:r>
              <a:rPr lang="en-US" sz="1100" dirty="0">
                <a:solidFill>
                  <a:srgbClr val="1B2430"/>
                </a:solidFill>
              </a:rPr>
              <a:t>Question triaged by risk and by the data it touches</a:t>
            </a:r>
            <a:endParaRPr lang="en-US" sz="1100" dirty="0"/>
          </a:p>
        </p:txBody>
      </p:sp>
      <p:sp>
        <p:nvSpPr>
          <p:cNvPr id="6" name="flow arrow"/>
          <p:cNvSpPr/>
          <p:nvPr/>
        </p:nvSpPr>
        <p:spPr>
          <a:xfrm>
            <a:off x="1956816" y="2029968"/>
            <a:ext cx="173736" cy="201168"/>
          </a:xfrm>
          <a:prstGeom prst="rightArrow">
            <a:avLst/>
          </a:prstGeom>
          <a:solidFill>
            <a:srgbClr val="5B6B7C"/>
          </a:solidFill>
          <a:ln w="12700">
            <a:solidFill>
              <a:srgbClr val="5B6B7C"/>
            </a:solidFill>
            <a:prstDash val="solid"/>
          </a:ln>
        </p:spPr>
      </p:sp>
      <p:sp>
        <p:nvSpPr>
          <p:cNvPr id="7" name="flow step"/>
          <p:cNvSpPr/>
          <p:nvPr/>
        </p:nvSpPr>
        <p:spPr>
          <a:xfrm>
            <a:off x="2148840" y="1325880"/>
            <a:ext cx="1463040" cy="1600200"/>
          </a:xfrm>
          <a:prstGeom prst="roundRect">
            <a:avLst>
              <a:gd name="adj" fmla="val 500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2258568" y="1417320"/>
            <a:ext cx="1243584" cy="457200"/>
          </a:xfrm>
          <a:prstGeom prst="rect">
            <a:avLst/>
          </a:prstGeom>
          <a:noFill/>
          <a:ln/>
        </p:spPr>
        <p:txBody>
          <a:bodyPr wrap="square" lIns="0" tIns="0" rIns="0" bIns="0" rtlCol="0" anchor="t"/>
          <a:lstStyle/>
          <a:p>
            <a:pPr indent="0" marL="0">
              <a:buNone/>
            </a:pPr>
            <a:r>
              <a:rPr lang="en-US" sz="1400" b="1" dirty="0">
                <a:solidFill>
                  <a:srgbClr val="1B2430"/>
                </a:solidFill>
              </a:rPr>
              <a:t>AI drafts</a:t>
            </a:r>
            <a:endParaRPr lang="en-US" sz="1400" dirty="0"/>
          </a:p>
        </p:txBody>
      </p:sp>
      <p:sp>
        <p:nvSpPr>
          <p:cNvPr id="9" name="Text 7"/>
          <p:cNvSpPr txBox="1"/>
          <p:nvPr/>
        </p:nvSpPr>
        <p:spPr>
          <a:xfrm>
            <a:off x="2258568" y="1892808"/>
            <a:ext cx="1243584" cy="1005840"/>
          </a:xfrm>
          <a:prstGeom prst="rect">
            <a:avLst/>
          </a:prstGeom>
          <a:noFill/>
          <a:ln/>
        </p:spPr>
        <p:txBody>
          <a:bodyPr wrap="square" lIns="0" tIns="0" rIns="0" bIns="0" rtlCol="0" anchor="t"/>
          <a:lstStyle/>
          <a:p>
            <a:pPr indent="0" marL="0">
              <a:buNone/>
            </a:pPr>
            <a:r>
              <a:rPr lang="en-US" sz="1100" dirty="0">
                <a:solidFill>
                  <a:srgbClr val="1B2430"/>
                </a:solidFill>
              </a:rPr>
              <a:t>Queries a governed layer: completed only, tests out, de-duplicated, PII hidden</a:t>
            </a:r>
            <a:endParaRPr lang="en-US" sz="1100" dirty="0"/>
          </a:p>
        </p:txBody>
      </p:sp>
      <p:sp>
        <p:nvSpPr>
          <p:cNvPr id="10" name="flow arrow"/>
          <p:cNvSpPr/>
          <p:nvPr/>
        </p:nvSpPr>
        <p:spPr>
          <a:xfrm>
            <a:off x="3648456" y="2029968"/>
            <a:ext cx="173736" cy="201168"/>
          </a:xfrm>
          <a:prstGeom prst="rightArrow">
            <a:avLst/>
          </a:prstGeom>
          <a:solidFill>
            <a:srgbClr val="5B6B7C"/>
          </a:solidFill>
          <a:ln w="12700">
            <a:solidFill>
              <a:srgbClr val="5B6B7C"/>
            </a:solidFill>
            <a:prstDash val="solid"/>
          </a:ln>
        </p:spPr>
      </p:sp>
      <p:sp>
        <p:nvSpPr>
          <p:cNvPr id="11" name="flow step"/>
          <p:cNvSpPr/>
          <p:nvPr/>
        </p:nvSpPr>
        <p:spPr>
          <a:xfrm>
            <a:off x="3840480" y="1325880"/>
            <a:ext cx="1463040" cy="1600200"/>
          </a:xfrm>
          <a:prstGeom prst="roundRect">
            <a:avLst>
              <a:gd name="adj" fmla="val 5000"/>
            </a:avLst>
          </a:prstGeom>
          <a:solidFill>
            <a:srgbClr val="D9622B"/>
          </a:solidFill>
          <a:ln w="12700">
            <a:solidFill>
              <a:srgbClr val="D9622B"/>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3950208" y="1417320"/>
            <a:ext cx="1243584" cy="457200"/>
          </a:xfrm>
          <a:prstGeom prst="rect">
            <a:avLst/>
          </a:prstGeom>
          <a:noFill/>
          <a:ln/>
        </p:spPr>
        <p:txBody>
          <a:bodyPr wrap="square" lIns="0" tIns="0" rIns="0" bIns="0" rtlCol="0" anchor="t"/>
          <a:lstStyle/>
          <a:p>
            <a:pPr indent="0" marL="0">
              <a:buNone/>
            </a:pPr>
            <a:r>
              <a:rPr lang="en-US" sz="1400" b="1" dirty="0">
                <a:solidFill>
                  <a:srgbClr val="FFFFFF"/>
                </a:solidFill>
              </a:rPr>
              <a:t>Validator recomputes</a:t>
            </a:r>
            <a:endParaRPr lang="en-US" sz="1400" dirty="0"/>
          </a:p>
        </p:txBody>
      </p:sp>
      <p:sp>
        <p:nvSpPr>
          <p:cNvPr id="13" name="Text 11"/>
          <p:cNvSpPr txBox="1"/>
          <p:nvPr/>
        </p:nvSpPr>
        <p:spPr>
          <a:xfrm>
            <a:off x="3950208" y="1892808"/>
            <a:ext cx="1243584" cy="1005840"/>
          </a:xfrm>
          <a:prstGeom prst="rect">
            <a:avLst/>
          </a:prstGeom>
          <a:noFill/>
          <a:ln/>
        </p:spPr>
        <p:txBody>
          <a:bodyPr wrap="square" lIns="0" tIns="0" rIns="0" bIns="0" rtlCol="0" anchor="t"/>
          <a:lstStyle/>
          <a:p>
            <a:pPr indent="0" marL="0">
              <a:buNone/>
            </a:pPr>
            <a:r>
              <a:rPr lang="en-US" sz="1100" dirty="0">
                <a:solidFill>
                  <a:srgbClr val="FFFFFF"/>
                </a:solidFill>
              </a:rPr>
              <a:t>Official definitions, checks C1 to C9, verdict plus evidence</a:t>
            </a:r>
            <a:endParaRPr lang="en-US" sz="1100" dirty="0"/>
          </a:p>
        </p:txBody>
      </p:sp>
      <p:sp>
        <p:nvSpPr>
          <p:cNvPr id="14" name="flow arrow"/>
          <p:cNvSpPr/>
          <p:nvPr/>
        </p:nvSpPr>
        <p:spPr>
          <a:xfrm>
            <a:off x="5340096" y="2029968"/>
            <a:ext cx="173736" cy="201168"/>
          </a:xfrm>
          <a:prstGeom prst="rightArrow">
            <a:avLst/>
          </a:prstGeom>
          <a:solidFill>
            <a:srgbClr val="5B6B7C"/>
          </a:solidFill>
          <a:ln w="12700">
            <a:solidFill>
              <a:srgbClr val="5B6B7C"/>
            </a:solidFill>
            <a:prstDash val="solid"/>
          </a:ln>
        </p:spPr>
      </p:sp>
      <p:sp>
        <p:nvSpPr>
          <p:cNvPr id="15" name="flow step"/>
          <p:cNvSpPr/>
          <p:nvPr/>
        </p:nvSpPr>
        <p:spPr>
          <a:xfrm>
            <a:off x="5532120" y="1325880"/>
            <a:ext cx="1463040" cy="1600200"/>
          </a:xfrm>
          <a:prstGeom prst="roundRect">
            <a:avLst>
              <a:gd name="adj" fmla="val 500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5641848" y="1417320"/>
            <a:ext cx="1243584" cy="457200"/>
          </a:xfrm>
          <a:prstGeom prst="rect">
            <a:avLst/>
          </a:prstGeom>
          <a:noFill/>
          <a:ln/>
        </p:spPr>
        <p:txBody>
          <a:bodyPr wrap="square" lIns="0" tIns="0" rIns="0" bIns="0" rtlCol="0" anchor="t"/>
          <a:lstStyle/>
          <a:p>
            <a:pPr indent="0" marL="0">
              <a:buNone/>
            </a:pPr>
            <a:r>
              <a:rPr lang="en-US" sz="1400" b="1" dirty="0">
                <a:solidFill>
                  <a:srgbClr val="1B2430"/>
                </a:solidFill>
              </a:rPr>
              <a:t>Router decides</a:t>
            </a:r>
            <a:endParaRPr lang="en-US" sz="1400" dirty="0"/>
          </a:p>
        </p:txBody>
      </p:sp>
      <p:sp>
        <p:nvSpPr>
          <p:cNvPr id="17" name="Text 15"/>
          <p:cNvSpPr txBox="1"/>
          <p:nvPr/>
        </p:nvSpPr>
        <p:spPr>
          <a:xfrm>
            <a:off x="5641848" y="1892808"/>
            <a:ext cx="1243584" cy="1005840"/>
          </a:xfrm>
          <a:prstGeom prst="rect">
            <a:avLst/>
          </a:prstGeom>
          <a:noFill/>
          <a:ln/>
        </p:spPr>
        <p:txBody>
          <a:bodyPr wrap="square" lIns="0" tIns="0" rIns="0" bIns="0" rtlCol="0" anchor="t"/>
          <a:lstStyle/>
          <a:p>
            <a:pPr indent="0" marL="0">
              <a:buNone/>
            </a:pPr>
            <a:r>
              <a:rPr lang="en-US" sz="1100" dirty="0">
                <a:solidFill>
                  <a:srgbClr val="1B2430"/>
                </a:solidFill>
              </a:rPr>
              <a:t>Release, caveat, hold, reject or block</a:t>
            </a:r>
            <a:endParaRPr lang="en-US" sz="1100" dirty="0"/>
          </a:p>
        </p:txBody>
      </p:sp>
      <p:sp>
        <p:nvSpPr>
          <p:cNvPr id="18" name="flow arrow"/>
          <p:cNvSpPr/>
          <p:nvPr/>
        </p:nvSpPr>
        <p:spPr>
          <a:xfrm>
            <a:off x="7031736" y="2029968"/>
            <a:ext cx="173736" cy="201168"/>
          </a:xfrm>
          <a:prstGeom prst="rightArrow">
            <a:avLst/>
          </a:prstGeom>
          <a:solidFill>
            <a:srgbClr val="5B6B7C"/>
          </a:solidFill>
          <a:ln w="12700">
            <a:solidFill>
              <a:srgbClr val="5B6B7C"/>
            </a:solidFill>
            <a:prstDash val="solid"/>
          </a:ln>
        </p:spPr>
      </p:sp>
      <p:sp>
        <p:nvSpPr>
          <p:cNvPr id="19" name="flow step"/>
          <p:cNvSpPr/>
          <p:nvPr/>
        </p:nvSpPr>
        <p:spPr>
          <a:xfrm>
            <a:off x="7223760" y="1325880"/>
            <a:ext cx="1463040" cy="1600200"/>
          </a:xfrm>
          <a:prstGeom prst="roundRect">
            <a:avLst>
              <a:gd name="adj" fmla="val 5000"/>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7333488" y="1417320"/>
            <a:ext cx="1243584" cy="457200"/>
          </a:xfrm>
          <a:prstGeom prst="rect">
            <a:avLst/>
          </a:prstGeom>
          <a:noFill/>
          <a:ln/>
        </p:spPr>
        <p:txBody>
          <a:bodyPr wrap="square" lIns="0" tIns="0" rIns="0" bIns="0" rtlCol="0" anchor="t"/>
          <a:lstStyle/>
          <a:p>
            <a:pPr indent="0" marL="0">
              <a:buNone/>
            </a:pPr>
            <a:r>
              <a:rPr lang="en-US" sz="1400" b="1" dirty="0">
                <a:solidFill>
                  <a:srgbClr val="1B2430"/>
                </a:solidFill>
              </a:rPr>
              <a:t>Human owns it</a:t>
            </a:r>
            <a:endParaRPr lang="en-US" sz="1400" dirty="0"/>
          </a:p>
        </p:txBody>
      </p:sp>
      <p:sp>
        <p:nvSpPr>
          <p:cNvPr id="21" name="Text 19"/>
          <p:cNvSpPr txBox="1"/>
          <p:nvPr/>
        </p:nvSpPr>
        <p:spPr>
          <a:xfrm>
            <a:off x="7333488" y="1892808"/>
            <a:ext cx="1243584" cy="1005840"/>
          </a:xfrm>
          <a:prstGeom prst="rect">
            <a:avLst/>
          </a:prstGeom>
          <a:noFill/>
          <a:ln/>
        </p:spPr>
        <p:txBody>
          <a:bodyPr wrap="square" lIns="0" tIns="0" rIns="0" bIns="0" rtlCol="0" anchor="t"/>
          <a:lstStyle/>
          <a:p>
            <a:pPr indent="0" marL="0">
              <a:buNone/>
            </a:pPr>
            <a:r>
              <a:rPr lang="en-US" sz="1100" dirty="0">
                <a:solidFill>
                  <a:srgbClr val="1B2430"/>
                </a:solidFill>
              </a:rPr>
              <a:t>Named reviewer signs off; audit log written</a:t>
            </a:r>
            <a:endParaRPr lang="en-US" sz="1100" dirty="0"/>
          </a:p>
        </p:txBody>
      </p:sp>
      <p:sp>
        <p:nvSpPr>
          <p:cNvPr id="22" name="checks card"/>
          <p:cNvSpPr/>
          <p:nvPr/>
        </p:nvSpPr>
        <p:spPr>
          <a:xfrm>
            <a:off x="457200" y="3200400"/>
            <a:ext cx="8229600" cy="1508760"/>
          </a:xfrm>
          <a:prstGeom prst="roundRect">
            <a:avLst>
              <a:gd name="adj" fmla="val 4848"/>
            </a:avLst>
          </a:prstGeom>
          <a:solidFill>
            <a:srgbClr val="F2F4F7"/>
          </a:solidFill>
          <a:ln w="12700">
            <a:solidFill>
              <a:srgbClr val="F2F4F7"/>
            </a:solidFill>
            <a:prstDash val="solid"/>
          </a:ln>
        </p:spPr>
      </p:sp>
      <p:sp>
        <p:nvSpPr>
          <p:cNvPr id="23" name="Text 21"/>
          <p:cNvSpPr txBox="1"/>
          <p:nvPr/>
        </p:nvSpPr>
        <p:spPr>
          <a:xfrm>
            <a:off x="640080" y="3273552"/>
            <a:ext cx="7863840" cy="274320"/>
          </a:xfrm>
          <a:prstGeom prst="rect">
            <a:avLst/>
          </a:prstGeom>
          <a:noFill/>
          <a:ln/>
        </p:spPr>
        <p:txBody>
          <a:bodyPr wrap="square" lIns="0" tIns="0" rIns="0" bIns="0" rtlCol="0" anchor="t"/>
          <a:lstStyle/>
          <a:p>
            <a:pPr indent="0" marL="0">
              <a:buNone/>
            </a:pPr>
            <a:r>
              <a:rPr lang="en-US" sz="1400" b="1" dirty="0">
                <a:solidFill>
                  <a:srgbClr val="1B2430"/>
                </a:solidFill>
              </a:rPr>
              <a:t>What the validator checks (works on any question, not only the 15)</a:t>
            </a:r>
            <a:endParaRPr lang="en-US" sz="1400" dirty="0"/>
          </a:p>
        </p:txBody>
      </p:sp>
      <p:sp>
        <p:nvSpPr>
          <p:cNvPr id="24" name="Text 22"/>
          <p:cNvSpPr txBox="1"/>
          <p:nvPr/>
        </p:nvSpPr>
        <p:spPr>
          <a:xfrm>
            <a:off x="640080" y="3611880"/>
            <a:ext cx="2651760" cy="1005840"/>
          </a:xfrm>
          <a:prstGeom prst="rect">
            <a:avLst/>
          </a:prstGeom>
          <a:noFill/>
          <a:ln/>
        </p:spPr>
        <p:txBody>
          <a:bodyPr wrap="square" lIns="0" tIns="0" rIns="0" bIns="0" rtlCol="0" anchor="t"/>
          <a:lstStyle/>
          <a:p>
            <a:pPr indent="0" marL="0">
              <a:spcAft>
                <a:spcPts val="400"/>
              </a:spcAft>
              <a:buNone/>
            </a:pPr>
            <a:r>
              <a:rPr lang="en-US" sz="1200" dirty="0">
                <a:solidFill>
                  <a:srgbClr val="1B2430"/>
                </a:solidFill>
              </a:rPr>
              <a:t>C1  Wrong scope (status)</a:t>
            </a:r>
            <a:endParaRPr lang="en-US" sz="1200" dirty="0"/>
          </a:p>
          <a:p>
            <a:pPr indent="0" marL="0">
              <a:spcAft>
                <a:spcPts val="400"/>
              </a:spcAft>
              <a:buNone/>
            </a:pPr>
            <a:r>
              <a:rPr lang="en-US" sz="1200" dirty="0">
                <a:solidFill>
                  <a:srgbClr val="1B2430"/>
                </a:solidFill>
              </a:rPr>
              <a:t>C2  Test accounts and duplicates</a:t>
            </a:r>
            <a:endParaRPr lang="en-US" sz="1200" dirty="0"/>
          </a:p>
          <a:p>
            <a:pPr indent="0" marL="0">
              <a:spcAft>
                <a:spcPts val="400"/>
              </a:spcAft>
              <a:buNone/>
            </a:pPr>
            <a:r>
              <a:rPr lang="en-US" sz="1200" dirty="0">
                <a:solidFill>
                  <a:srgbClr val="1B2430"/>
                </a:solidFill>
              </a:rPr>
              <a:t>C3  Metric substitution</a:t>
            </a:r>
            <a:endParaRPr lang="en-US" sz="1200" dirty="0"/>
          </a:p>
        </p:txBody>
      </p:sp>
      <p:sp>
        <p:nvSpPr>
          <p:cNvPr id="25" name="Text 23"/>
          <p:cNvSpPr txBox="1"/>
          <p:nvPr/>
        </p:nvSpPr>
        <p:spPr>
          <a:xfrm>
            <a:off x="3383280" y="3611880"/>
            <a:ext cx="2651760" cy="1005840"/>
          </a:xfrm>
          <a:prstGeom prst="rect">
            <a:avLst/>
          </a:prstGeom>
          <a:noFill/>
          <a:ln/>
        </p:spPr>
        <p:txBody>
          <a:bodyPr wrap="square" lIns="0" tIns="0" rIns="0" bIns="0" rtlCol="0" anchor="t"/>
          <a:lstStyle/>
          <a:p>
            <a:pPr indent="0" marL="0">
              <a:spcAft>
                <a:spcPts val="400"/>
              </a:spcAft>
              <a:buNone/>
            </a:pPr>
            <a:r>
              <a:rPr lang="en-US" sz="1200" dirty="0">
                <a:solidFill>
                  <a:srgbClr val="1B2430"/>
                </a:solidFill>
              </a:rPr>
              <a:t>C4  Numeric mismatch (±£0.50)</a:t>
            </a:r>
            <a:endParaRPr lang="en-US" sz="1200" dirty="0"/>
          </a:p>
          <a:p>
            <a:pPr indent="0" marL="0">
              <a:spcAft>
                <a:spcPts val="400"/>
              </a:spcAft>
              <a:buNone/>
            </a:pPr>
            <a:r>
              <a:rPr lang="en-US" sz="1200" dirty="0">
                <a:solidFill>
                  <a:srgbClr val="1B2430"/>
                </a:solidFill>
              </a:rPr>
              <a:t>C5  Causal language</a:t>
            </a:r>
            <a:endParaRPr lang="en-US" sz="1200" dirty="0"/>
          </a:p>
          <a:p>
            <a:pPr indent="0" marL="0">
              <a:spcAft>
                <a:spcPts val="400"/>
              </a:spcAft>
              <a:buNone/>
            </a:pPr>
            <a:r>
              <a:rPr lang="en-US" sz="1200" dirty="0">
                <a:solidFill>
                  <a:srgbClr val="1B2430"/>
                </a:solidFill>
              </a:rPr>
              <a:t>C6  Personal data</a:t>
            </a:r>
            <a:endParaRPr lang="en-US" sz="1200" dirty="0"/>
          </a:p>
        </p:txBody>
      </p:sp>
      <p:sp>
        <p:nvSpPr>
          <p:cNvPr id="26" name="Text 24"/>
          <p:cNvSpPr txBox="1"/>
          <p:nvPr/>
        </p:nvSpPr>
        <p:spPr>
          <a:xfrm>
            <a:off x="6126480" y="3611880"/>
            <a:ext cx="2651760" cy="1005840"/>
          </a:xfrm>
          <a:prstGeom prst="rect">
            <a:avLst/>
          </a:prstGeom>
          <a:noFill/>
          <a:ln/>
        </p:spPr>
        <p:txBody>
          <a:bodyPr wrap="square" lIns="0" tIns="0" rIns="0" bIns="0" rtlCol="0" anchor="t"/>
          <a:lstStyle/>
          <a:p>
            <a:pPr indent="0" marL="0">
              <a:spcAft>
                <a:spcPts val="400"/>
              </a:spcAft>
              <a:buNone/>
            </a:pPr>
            <a:r>
              <a:rPr lang="en-US" sz="1200" dirty="0">
                <a:solidFill>
                  <a:srgbClr val="1B2430"/>
                </a:solidFill>
              </a:rPr>
              <a:t>C7  Consent gate</a:t>
            </a:r>
            <a:endParaRPr lang="en-US" sz="1200" dirty="0"/>
          </a:p>
          <a:p>
            <a:pPr indent="0" marL="0">
              <a:spcAft>
                <a:spcPts val="400"/>
              </a:spcAft>
              <a:buNone/>
            </a:pPr>
            <a:r>
              <a:rPr lang="en-US" sz="1200" dirty="0">
                <a:solidFill>
                  <a:srgbClr val="1B2430"/>
                </a:solidFill>
              </a:rPr>
              <a:t>C8  Close calls (gap under 1%)</a:t>
            </a:r>
            <a:endParaRPr lang="en-US" sz="1200" dirty="0"/>
          </a:p>
          <a:p>
            <a:pPr indent="0" marL="0">
              <a:spcAft>
                <a:spcPts val="400"/>
              </a:spcAft>
              <a:buNone/>
            </a:pPr>
            <a:r>
              <a:rPr lang="en-US" sz="1200" dirty="0">
                <a:solidFill>
                  <a:srgbClr val="1B2430"/>
                </a:solidFill>
              </a:rPr>
              <a:t>C9  Insufficient for decision</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Every verdict routes to a named human</a:t>
            </a:r>
            <a:endParaRPr lang="en-US" sz="2800" dirty="0"/>
          </a:p>
        </p:txBody>
      </p:sp>
      <p:sp>
        <p:nvSpPr>
          <p:cNvPr id="3" name="route card"/>
          <p:cNvSpPr/>
          <p:nvPr/>
        </p:nvSpPr>
        <p:spPr>
          <a:xfrm>
            <a:off x="457200" y="1325880"/>
            <a:ext cx="1554480" cy="2788920"/>
          </a:xfrm>
          <a:prstGeom prst="roundRect">
            <a:avLst>
              <a:gd name="adj" fmla="val 470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route header"/>
          <p:cNvSpPr/>
          <p:nvPr/>
        </p:nvSpPr>
        <p:spPr>
          <a:xfrm>
            <a:off x="457200" y="1325880"/>
            <a:ext cx="1554480" cy="502920"/>
          </a:xfrm>
          <a:prstGeom prst="roundRect">
            <a:avLst>
              <a:gd name="adj" fmla="val 14545"/>
            </a:avLst>
          </a:prstGeom>
          <a:solidFill>
            <a:srgbClr val="2A9D8F"/>
          </a:solidFill>
          <a:ln w="12700">
            <a:solidFill>
              <a:srgbClr val="2A9D8F"/>
            </a:solidFill>
            <a:prstDash val="solid"/>
          </a:ln>
        </p:spPr>
      </p:sp>
      <p:sp>
        <p:nvSpPr>
          <p:cNvPr id="5" name="Text 3"/>
          <p:cNvSpPr txBox="1"/>
          <p:nvPr/>
        </p:nvSpPr>
        <p:spPr>
          <a:xfrm>
            <a:off x="548640" y="132588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rPr>
              <a:t>Correct</a:t>
            </a:r>
            <a:endParaRPr lang="en-US" sz="1300" dirty="0"/>
          </a:p>
        </p:txBody>
      </p:sp>
      <p:sp>
        <p:nvSpPr>
          <p:cNvPr id="6" name="Text 4"/>
          <p:cNvSpPr txBox="1"/>
          <p:nvPr/>
        </p:nvSpPr>
        <p:spPr>
          <a:xfrm>
            <a:off x="566928" y="1938528"/>
            <a:ext cx="1335024" cy="1097280"/>
          </a:xfrm>
          <a:prstGeom prst="rect">
            <a:avLst/>
          </a:prstGeom>
          <a:noFill/>
          <a:ln/>
        </p:spPr>
        <p:txBody>
          <a:bodyPr wrap="square" lIns="0" tIns="0" rIns="0" bIns="0" rtlCol="0" anchor="t"/>
          <a:lstStyle/>
          <a:p>
            <a:pPr indent="0" marL="0">
              <a:buNone/>
            </a:pPr>
            <a:r>
              <a:rPr lang="en-US" sz="1200" dirty="0">
                <a:solidFill>
                  <a:srgbClr val="1B2430"/>
                </a:solidFill>
              </a:rPr>
              <a:t>Auto-release, stamped PROVISIONAL. 10% sampled weekly.</a:t>
            </a:r>
            <a:endParaRPr lang="en-US" sz="1200" dirty="0"/>
          </a:p>
        </p:txBody>
      </p:sp>
      <p:sp>
        <p:nvSpPr>
          <p:cNvPr id="7" name="Text 5"/>
          <p:cNvSpPr txBox="1"/>
          <p:nvPr/>
        </p:nvSpPr>
        <p:spPr>
          <a:xfrm>
            <a:off x="566928" y="3108960"/>
            <a:ext cx="1335024" cy="182880"/>
          </a:xfrm>
          <a:prstGeom prst="rect">
            <a:avLst/>
          </a:prstGeom>
          <a:noFill/>
          <a:ln/>
        </p:spPr>
        <p:txBody>
          <a:bodyPr wrap="square" lIns="0" tIns="0" rIns="0" bIns="0" rtlCol="0" anchor="t"/>
          <a:lstStyle/>
          <a:p>
            <a:pPr indent="0" marL="0">
              <a:buNone/>
            </a:pPr>
            <a:r>
              <a:rPr lang="en-US" sz="1000" b="1" dirty="0">
                <a:solidFill>
                  <a:srgbClr val="5B6B7C"/>
                </a:solidFill>
              </a:rPr>
              <a:t>OWNER</a:t>
            </a:r>
            <a:endParaRPr lang="en-US" sz="1000" dirty="0"/>
          </a:p>
        </p:txBody>
      </p:sp>
      <p:sp>
        <p:nvSpPr>
          <p:cNvPr id="8" name="Text 6"/>
          <p:cNvSpPr txBox="1"/>
          <p:nvPr/>
        </p:nvSpPr>
        <p:spPr>
          <a:xfrm>
            <a:off x="566928" y="3310128"/>
            <a:ext cx="1335024" cy="731520"/>
          </a:xfrm>
          <a:prstGeom prst="rect">
            <a:avLst/>
          </a:prstGeom>
          <a:noFill/>
          <a:ln/>
        </p:spPr>
        <p:txBody>
          <a:bodyPr wrap="square" lIns="0" tIns="0" rIns="0" bIns="0" rtlCol="0" anchor="t"/>
          <a:lstStyle/>
          <a:p>
            <a:pPr indent="0" marL="0">
              <a:buNone/>
            </a:pPr>
            <a:r>
              <a:rPr lang="en-US" sz="1200" b="1" dirty="0">
                <a:solidFill>
                  <a:srgbClr val="1B2430"/>
                </a:solidFill>
              </a:rPr>
              <a:t>Analyst (sampling)</a:t>
            </a:r>
            <a:endParaRPr lang="en-US" sz="1200" dirty="0"/>
          </a:p>
        </p:txBody>
      </p:sp>
      <p:sp>
        <p:nvSpPr>
          <p:cNvPr id="9" name="route card"/>
          <p:cNvSpPr/>
          <p:nvPr/>
        </p:nvSpPr>
        <p:spPr>
          <a:xfrm>
            <a:off x="2125980" y="1325880"/>
            <a:ext cx="1554480" cy="2788920"/>
          </a:xfrm>
          <a:prstGeom prst="roundRect">
            <a:avLst>
              <a:gd name="adj" fmla="val 470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0" name="route header"/>
          <p:cNvSpPr/>
          <p:nvPr/>
        </p:nvSpPr>
        <p:spPr>
          <a:xfrm>
            <a:off x="2125980" y="1325880"/>
            <a:ext cx="1554480" cy="502920"/>
          </a:xfrm>
          <a:prstGeom prst="roundRect">
            <a:avLst>
              <a:gd name="adj" fmla="val 14545"/>
            </a:avLst>
          </a:prstGeom>
          <a:solidFill>
            <a:srgbClr val="8CCFC4"/>
          </a:solidFill>
          <a:ln w="12700">
            <a:solidFill>
              <a:srgbClr val="8CCFC4"/>
            </a:solidFill>
            <a:prstDash val="solid"/>
          </a:ln>
        </p:spPr>
      </p:sp>
      <p:sp>
        <p:nvSpPr>
          <p:cNvPr id="11" name="Text 9"/>
          <p:cNvSpPr txBox="1"/>
          <p:nvPr/>
        </p:nvSpPr>
        <p:spPr>
          <a:xfrm>
            <a:off x="2217420" y="1325880"/>
            <a:ext cx="1371600" cy="502920"/>
          </a:xfrm>
          <a:prstGeom prst="rect">
            <a:avLst/>
          </a:prstGeom>
          <a:noFill/>
          <a:ln/>
        </p:spPr>
        <p:txBody>
          <a:bodyPr wrap="square" lIns="0" tIns="0" rIns="0" bIns="0" rtlCol="0" anchor="ctr"/>
          <a:lstStyle/>
          <a:p>
            <a:pPr algn="ctr" indent="0" marL="0">
              <a:buNone/>
            </a:pPr>
            <a:r>
              <a:rPr lang="en-US" sz="1300" b="1" dirty="0">
                <a:solidFill>
                  <a:srgbClr val="1B2430"/>
                </a:solidFill>
              </a:rPr>
              <a:t>Caveat</a:t>
            </a:r>
            <a:endParaRPr lang="en-US" sz="1300" dirty="0"/>
          </a:p>
        </p:txBody>
      </p:sp>
      <p:sp>
        <p:nvSpPr>
          <p:cNvPr id="12" name="Text 10"/>
          <p:cNvSpPr txBox="1"/>
          <p:nvPr/>
        </p:nvSpPr>
        <p:spPr>
          <a:xfrm>
            <a:off x="2235708" y="1938528"/>
            <a:ext cx="1335024" cy="1097280"/>
          </a:xfrm>
          <a:prstGeom prst="rect">
            <a:avLst/>
          </a:prstGeom>
          <a:noFill/>
          <a:ln/>
        </p:spPr>
        <p:txBody>
          <a:bodyPr wrap="square" lIns="0" tIns="0" rIns="0" bIns="0" rtlCol="0" anchor="t"/>
          <a:lstStyle/>
          <a:p>
            <a:pPr indent="0" marL="0">
              <a:buNone/>
            </a:pPr>
            <a:r>
              <a:rPr lang="en-US" sz="1200" dirty="0">
                <a:solidFill>
                  <a:srgbClr val="1B2430"/>
                </a:solidFill>
              </a:rPr>
              <a:t>Release with caveat text attached.</a:t>
            </a:r>
            <a:endParaRPr lang="en-US" sz="1200" dirty="0"/>
          </a:p>
        </p:txBody>
      </p:sp>
      <p:sp>
        <p:nvSpPr>
          <p:cNvPr id="13" name="Text 11"/>
          <p:cNvSpPr txBox="1"/>
          <p:nvPr/>
        </p:nvSpPr>
        <p:spPr>
          <a:xfrm>
            <a:off x="2235708" y="3108960"/>
            <a:ext cx="1335024" cy="182880"/>
          </a:xfrm>
          <a:prstGeom prst="rect">
            <a:avLst/>
          </a:prstGeom>
          <a:noFill/>
          <a:ln/>
        </p:spPr>
        <p:txBody>
          <a:bodyPr wrap="square" lIns="0" tIns="0" rIns="0" bIns="0" rtlCol="0" anchor="t"/>
          <a:lstStyle/>
          <a:p>
            <a:pPr indent="0" marL="0">
              <a:buNone/>
            </a:pPr>
            <a:r>
              <a:rPr lang="en-US" sz="1000" b="1" dirty="0">
                <a:solidFill>
                  <a:srgbClr val="5B6B7C"/>
                </a:solidFill>
              </a:rPr>
              <a:t>OWNER</a:t>
            </a:r>
            <a:endParaRPr lang="en-US" sz="1000" dirty="0"/>
          </a:p>
        </p:txBody>
      </p:sp>
      <p:sp>
        <p:nvSpPr>
          <p:cNvPr id="14" name="Text 12"/>
          <p:cNvSpPr txBox="1"/>
          <p:nvPr/>
        </p:nvSpPr>
        <p:spPr>
          <a:xfrm>
            <a:off x="2235708" y="3310128"/>
            <a:ext cx="1335024" cy="731520"/>
          </a:xfrm>
          <a:prstGeom prst="rect">
            <a:avLst/>
          </a:prstGeom>
          <a:noFill/>
          <a:ln/>
        </p:spPr>
        <p:txBody>
          <a:bodyPr wrap="square" lIns="0" tIns="0" rIns="0" bIns="0" rtlCol="0" anchor="t"/>
          <a:lstStyle/>
          <a:p>
            <a:pPr indent="0" marL="0">
              <a:buNone/>
            </a:pPr>
            <a:r>
              <a:rPr lang="en-US" sz="1200" b="1" dirty="0">
                <a:solidFill>
                  <a:srgbClr val="1B2430"/>
                </a:solidFill>
              </a:rPr>
              <a:t>Analyst confirms wording</a:t>
            </a:r>
            <a:endParaRPr lang="en-US" sz="1200" dirty="0"/>
          </a:p>
        </p:txBody>
      </p:sp>
      <p:sp>
        <p:nvSpPr>
          <p:cNvPr id="15" name="route card"/>
          <p:cNvSpPr/>
          <p:nvPr/>
        </p:nvSpPr>
        <p:spPr>
          <a:xfrm>
            <a:off x="3794760" y="1325880"/>
            <a:ext cx="1554480" cy="2788920"/>
          </a:xfrm>
          <a:prstGeom prst="roundRect">
            <a:avLst>
              <a:gd name="adj" fmla="val 470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6" name="route header"/>
          <p:cNvSpPr/>
          <p:nvPr/>
        </p:nvSpPr>
        <p:spPr>
          <a:xfrm>
            <a:off x="3794760" y="1325880"/>
            <a:ext cx="1554480" cy="502920"/>
          </a:xfrm>
          <a:prstGeom prst="roundRect">
            <a:avLst>
              <a:gd name="adj" fmla="val 14545"/>
            </a:avLst>
          </a:prstGeom>
          <a:solidFill>
            <a:srgbClr val="E9A23B"/>
          </a:solidFill>
          <a:ln w="12700">
            <a:solidFill>
              <a:srgbClr val="E9A23B"/>
            </a:solidFill>
            <a:prstDash val="solid"/>
          </a:ln>
        </p:spPr>
      </p:sp>
      <p:sp>
        <p:nvSpPr>
          <p:cNvPr id="17" name="Text 15"/>
          <p:cNvSpPr txBox="1"/>
          <p:nvPr/>
        </p:nvSpPr>
        <p:spPr>
          <a:xfrm>
            <a:off x="3886200" y="1325880"/>
            <a:ext cx="1371600" cy="502920"/>
          </a:xfrm>
          <a:prstGeom prst="rect">
            <a:avLst/>
          </a:prstGeom>
          <a:noFill/>
          <a:ln/>
        </p:spPr>
        <p:txBody>
          <a:bodyPr wrap="square" lIns="0" tIns="0" rIns="0" bIns="0" rtlCol="0" anchor="ctr"/>
          <a:lstStyle/>
          <a:p>
            <a:pPr algn="ctr" indent="0" marL="0">
              <a:buNone/>
            </a:pPr>
            <a:r>
              <a:rPr lang="en-US" sz="1300" b="1" dirty="0">
                <a:solidFill>
                  <a:srgbClr val="1B2430"/>
                </a:solidFill>
              </a:rPr>
              <a:t>Misleading</a:t>
            </a:r>
            <a:endParaRPr lang="en-US" sz="1300" dirty="0"/>
          </a:p>
        </p:txBody>
      </p:sp>
      <p:sp>
        <p:nvSpPr>
          <p:cNvPr id="18" name="Text 16"/>
          <p:cNvSpPr txBox="1"/>
          <p:nvPr/>
        </p:nvSpPr>
        <p:spPr>
          <a:xfrm>
            <a:off x="3904488" y="1938528"/>
            <a:ext cx="1335024" cy="1097280"/>
          </a:xfrm>
          <a:prstGeom prst="rect">
            <a:avLst/>
          </a:prstGeom>
          <a:noFill/>
          <a:ln/>
        </p:spPr>
        <p:txBody>
          <a:bodyPr wrap="square" lIns="0" tIns="0" rIns="0" bIns="0" rtlCol="0" anchor="t"/>
          <a:lstStyle/>
          <a:p>
            <a:pPr indent="0" marL="0">
              <a:buNone/>
            </a:pPr>
            <a:r>
              <a:rPr lang="en-US" sz="1200" dirty="0">
                <a:solidFill>
                  <a:srgbClr val="1B2430"/>
                </a:solidFill>
              </a:rPr>
              <a:t>Hold. Analyst rewrites the reasoning or reframes the question.</a:t>
            </a:r>
            <a:endParaRPr lang="en-US" sz="1200" dirty="0"/>
          </a:p>
        </p:txBody>
      </p:sp>
      <p:sp>
        <p:nvSpPr>
          <p:cNvPr id="19" name="Text 17"/>
          <p:cNvSpPr txBox="1"/>
          <p:nvPr/>
        </p:nvSpPr>
        <p:spPr>
          <a:xfrm>
            <a:off x="3904488" y="3108960"/>
            <a:ext cx="1335024" cy="182880"/>
          </a:xfrm>
          <a:prstGeom prst="rect">
            <a:avLst/>
          </a:prstGeom>
          <a:noFill/>
          <a:ln/>
        </p:spPr>
        <p:txBody>
          <a:bodyPr wrap="square" lIns="0" tIns="0" rIns="0" bIns="0" rtlCol="0" anchor="t"/>
          <a:lstStyle/>
          <a:p>
            <a:pPr indent="0" marL="0">
              <a:buNone/>
            </a:pPr>
            <a:r>
              <a:rPr lang="en-US" sz="1000" b="1" dirty="0">
                <a:solidFill>
                  <a:srgbClr val="5B6B7C"/>
                </a:solidFill>
              </a:rPr>
              <a:t>OWNER</a:t>
            </a:r>
            <a:endParaRPr lang="en-US" sz="1000" dirty="0"/>
          </a:p>
        </p:txBody>
      </p:sp>
      <p:sp>
        <p:nvSpPr>
          <p:cNvPr id="20" name="Text 18"/>
          <p:cNvSpPr txBox="1"/>
          <p:nvPr/>
        </p:nvSpPr>
        <p:spPr>
          <a:xfrm>
            <a:off x="3904488" y="3310128"/>
            <a:ext cx="1335024" cy="731520"/>
          </a:xfrm>
          <a:prstGeom prst="rect">
            <a:avLst/>
          </a:prstGeom>
          <a:noFill/>
          <a:ln/>
        </p:spPr>
        <p:txBody>
          <a:bodyPr wrap="square" lIns="0" tIns="0" rIns="0" bIns="0" rtlCol="0" anchor="t"/>
          <a:lstStyle/>
          <a:p>
            <a:pPr indent="0" marL="0">
              <a:buNone/>
            </a:pPr>
            <a:r>
              <a:rPr lang="en-US" sz="1200" b="1" dirty="0">
                <a:solidFill>
                  <a:srgbClr val="1B2430"/>
                </a:solidFill>
              </a:rPr>
              <a:t>Analyst or Senior Analyst</a:t>
            </a:r>
            <a:endParaRPr lang="en-US" sz="1200" dirty="0"/>
          </a:p>
        </p:txBody>
      </p:sp>
      <p:sp>
        <p:nvSpPr>
          <p:cNvPr id="21" name="route card"/>
          <p:cNvSpPr/>
          <p:nvPr/>
        </p:nvSpPr>
        <p:spPr>
          <a:xfrm>
            <a:off x="5463540" y="1325880"/>
            <a:ext cx="1554480" cy="2788920"/>
          </a:xfrm>
          <a:prstGeom prst="roundRect">
            <a:avLst>
              <a:gd name="adj" fmla="val 470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2" name="route header"/>
          <p:cNvSpPr/>
          <p:nvPr/>
        </p:nvSpPr>
        <p:spPr>
          <a:xfrm>
            <a:off x="5463540" y="1325880"/>
            <a:ext cx="1554480" cy="502920"/>
          </a:xfrm>
          <a:prstGeom prst="roundRect">
            <a:avLst>
              <a:gd name="adj" fmla="val 14545"/>
            </a:avLst>
          </a:prstGeom>
          <a:solidFill>
            <a:srgbClr val="C0392B"/>
          </a:solidFill>
          <a:ln w="12700">
            <a:solidFill>
              <a:srgbClr val="C0392B"/>
            </a:solidFill>
            <a:prstDash val="solid"/>
          </a:ln>
        </p:spPr>
      </p:sp>
      <p:sp>
        <p:nvSpPr>
          <p:cNvPr id="23" name="Text 21"/>
          <p:cNvSpPr txBox="1"/>
          <p:nvPr/>
        </p:nvSpPr>
        <p:spPr>
          <a:xfrm>
            <a:off x="5554980" y="132588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rPr>
              <a:t>Wrong</a:t>
            </a:r>
            <a:endParaRPr lang="en-US" sz="1300" dirty="0"/>
          </a:p>
        </p:txBody>
      </p:sp>
      <p:sp>
        <p:nvSpPr>
          <p:cNvPr id="24" name="Text 22"/>
          <p:cNvSpPr txBox="1"/>
          <p:nvPr/>
        </p:nvSpPr>
        <p:spPr>
          <a:xfrm>
            <a:off x="5573268" y="1938528"/>
            <a:ext cx="1335024" cy="1097280"/>
          </a:xfrm>
          <a:prstGeom prst="rect">
            <a:avLst/>
          </a:prstGeom>
          <a:noFill/>
          <a:ln/>
        </p:spPr>
        <p:txBody>
          <a:bodyPr wrap="square" lIns="0" tIns="0" rIns="0" bIns="0" rtlCol="0" anchor="t"/>
          <a:lstStyle/>
          <a:p>
            <a:pPr indent="0" marL="0">
              <a:buNone/>
            </a:pPr>
            <a:r>
              <a:rPr lang="en-US" sz="1200" dirty="0">
                <a:solidFill>
                  <a:srgbClr val="1B2430"/>
                </a:solidFill>
              </a:rPr>
              <a:t>Reject. A human issues the corrected answer; root cause logged.</a:t>
            </a:r>
            <a:endParaRPr lang="en-US" sz="1200" dirty="0"/>
          </a:p>
        </p:txBody>
      </p:sp>
      <p:sp>
        <p:nvSpPr>
          <p:cNvPr id="25" name="Text 23"/>
          <p:cNvSpPr txBox="1"/>
          <p:nvPr/>
        </p:nvSpPr>
        <p:spPr>
          <a:xfrm>
            <a:off x="5573268" y="3108960"/>
            <a:ext cx="1335024" cy="182880"/>
          </a:xfrm>
          <a:prstGeom prst="rect">
            <a:avLst/>
          </a:prstGeom>
          <a:noFill/>
          <a:ln/>
        </p:spPr>
        <p:txBody>
          <a:bodyPr wrap="square" lIns="0" tIns="0" rIns="0" bIns="0" rtlCol="0" anchor="t"/>
          <a:lstStyle/>
          <a:p>
            <a:pPr indent="0" marL="0">
              <a:buNone/>
            </a:pPr>
            <a:r>
              <a:rPr lang="en-US" sz="1000" b="1" dirty="0">
                <a:solidFill>
                  <a:srgbClr val="5B6B7C"/>
                </a:solidFill>
              </a:rPr>
              <a:t>OWNER</a:t>
            </a:r>
            <a:endParaRPr lang="en-US" sz="1000" dirty="0"/>
          </a:p>
        </p:txBody>
      </p:sp>
      <p:sp>
        <p:nvSpPr>
          <p:cNvPr id="26" name="Text 24"/>
          <p:cNvSpPr txBox="1"/>
          <p:nvPr/>
        </p:nvSpPr>
        <p:spPr>
          <a:xfrm>
            <a:off x="5573268" y="3310128"/>
            <a:ext cx="1335024" cy="731520"/>
          </a:xfrm>
          <a:prstGeom prst="rect">
            <a:avLst/>
          </a:prstGeom>
          <a:noFill/>
          <a:ln/>
        </p:spPr>
        <p:txBody>
          <a:bodyPr wrap="square" lIns="0" tIns="0" rIns="0" bIns="0" rtlCol="0" anchor="t"/>
          <a:lstStyle/>
          <a:p>
            <a:pPr indent="0" marL="0">
              <a:buNone/>
            </a:pPr>
            <a:r>
              <a:rPr lang="en-US" sz="1200" b="1" dirty="0">
                <a:solidFill>
                  <a:srgbClr val="1B2430"/>
                </a:solidFill>
              </a:rPr>
              <a:t>Senior Analyst; Finance Director for revenue or profit</a:t>
            </a:r>
            <a:endParaRPr lang="en-US" sz="1200" dirty="0"/>
          </a:p>
        </p:txBody>
      </p:sp>
      <p:sp>
        <p:nvSpPr>
          <p:cNvPr id="27" name="route card"/>
          <p:cNvSpPr/>
          <p:nvPr/>
        </p:nvSpPr>
        <p:spPr>
          <a:xfrm>
            <a:off x="7132320" y="1325880"/>
            <a:ext cx="1554480" cy="2788920"/>
          </a:xfrm>
          <a:prstGeom prst="roundRect">
            <a:avLst>
              <a:gd name="adj" fmla="val 4706"/>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8" name="route header"/>
          <p:cNvSpPr/>
          <p:nvPr/>
        </p:nvSpPr>
        <p:spPr>
          <a:xfrm>
            <a:off x="7132320" y="1325880"/>
            <a:ext cx="1554480" cy="502920"/>
          </a:xfrm>
          <a:prstGeom prst="roundRect">
            <a:avLst>
              <a:gd name="adj" fmla="val 14545"/>
            </a:avLst>
          </a:prstGeom>
          <a:solidFill>
            <a:srgbClr val="2D3A4A"/>
          </a:solidFill>
          <a:ln w="12700">
            <a:solidFill>
              <a:srgbClr val="2D3A4A"/>
            </a:solidFill>
            <a:prstDash val="solid"/>
          </a:ln>
        </p:spPr>
      </p:sp>
      <p:sp>
        <p:nvSpPr>
          <p:cNvPr id="29" name="Text 27"/>
          <p:cNvSpPr txBox="1"/>
          <p:nvPr/>
        </p:nvSpPr>
        <p:spPr>
          <a:xfrm>
            <a:off x="7223760" y="1325880"/>
            <a:ext cx="1371600" cy="502920"/>
          </a:xfrm>
          <a:prstGeom prst="rect">
            <a:avLst/>
          </a:prstGeom>
          <a:noFill/>
          <a:ln/>
        </p:spPr>
        <p:txBody>
          <a:bodyPr wrap="square" lIns="0" tIns="0" rIns="0" bIns="0" rtlCol="0" anchor="ctr"/>
          <a:lstStyle/>
          <a:p>
            <a:pPr algn="ctr" indent="0" marL="0">
              <a:buNone/>
            </a:pPr>
            <a:r>
              <a:rPr lang="en-US" sz="1300" b="1" dirty="0">
                <a:solidFill>
                  <a:srgbClr val="FFFFFF"/>
                </a:solidFill>
              </a:rPr>
              <a:t>Non-compliant</a:t>
            </a:r>
            <a:endParaRPr lang="en-US" sz="1300" dirty="0"/>
          </a:p>
        </p:txBody>
      </p:sp>
      <p:sp>
        <p:nvSpPr>
          <p:cNvPr id="30" name="Text 28"/>
          <p:cNvSpPr txBox="1"/>
          <p:nvPr/>
        </p:nvSpPr>
        <p:spPr>
          <a:xfrm>
            <a:off x="7242048" y="1938528"/>
            <a:ext cx="1335024" cy="1097280"/>
          </a:xfrm>
          <a:prstGeom prst="rect">
            <a:avLst/>
          </a:prstGeom>
          <a:noFill/>
          <a:ln/>
        </p:spPr>
        <p:txBody>
          <a:bodyPr wrap="square" lIns="0" tIns="0" rIns="0" bIns="0" rtlCol="0" anchor="t"/>
          <a:lstStyle/>
          <a:p>
            <a:pPr indent="0" marL="0">
              <a:buNone/>
            </a:pPr>
            <a:r>
              <a:rPr lang="en-US" sz="1200" dirty="0">
                <a:solidFill>
                  <a:srgbClr val="1B2430"/>
                </a:solidFill>
              </a:rPr>
              <a:t>Block. No data released; incident raised.</a:t>
            </a:r>
            <a:endParaRPr lang="en-US" sz="1200" dirty="0"/>
          </a:p>
        </p:txBody>
      </p:sp>
      <p:sp>
        <p:nvSpPr>
          <p:cNvPr id="31" name="Text 29"/>
          <p:cNvSpPr txBox="1"/>
          <p:nvPr/>
        </p:nvSpPr>
        <p:spPr>
          <a:xfrm>
            <a:off x="7242048" y="3108960"/>
            <a:ext cx="1335024" cy="182880"/>
          </a:xfrm>
          <a:prstGeom prst="rect">
            <a:avLst/>
          </a:prstGeom>
          <a:noFill/>
          <a:ln/>
        </p:spPr>
        <p:txBody>
          <a:bodyPr wrap="square" lIns="0" tIns="0" rIns="0" bIns="0" rtlCol="0" anchor="t"/>
          <a:lstStyle/>
          <a:p>
            <a:pPr indent="0" marL="0">
              <a:buNone/>
            </a:pPr>
            <a:r>
              <a:rPr lang="en-US" sz="1000" b="1" dirty="0">
                <a:solidFill>
                  <a:srgbClr val="5B6B7C"/>
                </a:solidFill>
              </a:rPr>
              <a:t>OWNER</a:t>
            </a:r>
            <a:endParaRPr lang="en-US" sz="1000" dirty="0"/>
          </a:p>
        </p:txBody>
      </p:sp>
      <p:sp>
        <p:nvSpPr>
          <p:cNvPr id="32" name="Text 30"/>
          <p:cNvSpPr txBox="1"/>
          <p:nvPr/>
        </p:nvSpPr>
        <p:spPr>
          <a:xfrm>
            <a:off x="7242048" y="3310128"/>
            <a:ext cx="1335024" cy="731520"/>
          </a:xfrm>
          <a:prstGeom prst="rect">
            <a:avLst/>
          </a:prstGeom>
          <a:noFill/>
          <a:ln/>
        </p:spPr>
        <p:txBody>
          <a:bodyPr wrap="square" lIns="0" tIns="0" rIns="0" bIns="0" rtlCol="0" anchor="t"/>
          <a:lstStyle/>
          <a:p>
            <a:pPr indent="0" marL="0">
              <a:buNone/>
            </a:pPr>
            <a:r>
              <a:rPr lang="en-US" sz="1200" b="1" dirty="0">
                <a:solidFill>
                  <a:srgbClr val="1B2430"/>
                </a:solidFill>
              </a:rPr>
              <a:t>Data Protection Lead</a:t>
            </a:r>
            <a:endParaRPr lang="en-US" sz="1200" dirty="0"/>
          </a:p>
        </p:txBody>
      </p:sp>
      <p:sp>
        <p:nvSpPr>
          <p:cNvPr id="33" name="audit banner"/>
          <p:cNvSpPr/>
          <p:nvPr/>
        </p:nvSpPr>
        <p:spPr>
          <a:xfrm>
            <a:off x="457200" y="4251960"/>
            <a:ext cx="8229600" cy="457200"/>
          </a:xfrm>
          <a:prstGeom prst="roundRect">
            <a:avLst>
              <a:gd name="adj" fmla="val 16000"/>
            </a:avLst>
          </a:prstGeom>
          <a:solidFill>
            <a:srgbClr val="1B2430"/>
          </a:solidFill>
          <a:ln w="12700">
            <a:solidFill>
              <a:srgbClr val="1B2430"/>
            </a:solidFill>
            <a:prstDash val="solid"/>
          </a:ln>
        </p:spPr>
      </p:sp>
      <p:sp>
        <p:nvSpPr>
          <p:cNvPr id="34" name="Text 32"/>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300" dirty="0">
                <a:solidFill>
                  <a:srgbClr val="FFFFFF"/>
                </a:solidFill>
              </a:rPr>
              <a:t>Audit log per answer: question, answer, confidence, checks fired, verdict, reviewer, decision.</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Rules of engagement: when AI is safe, reviewed or off-limits</a:t>
            </a:r>
            <a:endParaRPr lang="en-US" sz="2800" dirty="0"/>
          </a:p>
        </p:txBody>
      </p:sp>
      <p:sp>
        <p:nvSpPr>
          <p:cNvPr id="3" name="zone card"/>
          <p:cNvSpPr/>
          <p:nvPr/>
        </p:nvSpPr>
        <p:spPr>
          <a:xfrm>
            <a:off x="457200" y="1325880"/>
            <a:ext cx="2651760" cy="2880360"/>
          </a:xfrm>
          <a:prstGeom prst="roundRect">
            <a:avLst>
              <a:gd name="adj" fmla="val 275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4" name="zone header"/>
          <p:cNvSpPr/>
          <p:nvPr/>
        </p:nvSpPr>
        <p:spPr>
          <a:xfrm>
            <a:off x="457200" y="1325880"/>
            <a:ext cx="2651760" cy="548640"/>
          </a:xfrm>
          <a:prstGeom prst="roundRect">
            <a:avLst>
              <a:gd name="adj" fmla="val 13333"/>
            </a:avLst>
          </a:prstGeom>
          <a:solidFill>
            <a:srgbClr val="2A9D8F"/>
          </a:solidFill>
          <a:ln w="12700">
            <a:solidFill>
              <a:srgbClr val="2A9D8F"/>
            </a:solidFill>
            <a:prstDash val="solid"/>
          </a:ln>
        </p:spPr>
      </p:sp>
      <p:sp>
        <p:nvSpPr>
          <p:cNvPr id="5" name="Text 3"/>
          <p:cNvSpPr txBox="1"/>
          <p:nvPr/>
        </p:nvSpPr>
        <p:spPr>
          <a:xfrm>
            <a:off x="594360" y="1325880"/>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GREEN: safe</a:t>
            </a:r>
            <a:endParaRPr lang="en-US" sz="1600" dirty="0"/>
          </a:p>
        </p:txBody>
      </p:sp>
      <p:sp>
        <p:nvSpPr>
          <p:cNvPr id="6" name="Text 4"/>
          <p:cNvSpPr txBox="1"/>
          <p:nvPr/>
        </p:nvSpPr>
        <p:spPr>
          <a:xfrm>
            <a:off x="594360" y="201168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WHEN</a:t>
            </a:r>
            <a:endParaRPr lang="en-US" sz="1000" dirty="0"/>
          </a:p>
        </p:txBody>
      </p:sp>
      <p:sp>
        <p:nvSpPr>
          <p:cNvPr id="7" name="Text 5"/>
          <p:cNvSpPr txBox="1"/>
          <p:nvPr/>
        </p:nvSpPr>
        <p:spPr>
          <a:xfrm>
            <a:off x="594360" y="2212848"/>
            <a:ext cx="2377440" cy="914400"/>
          </a:xfrm>
          <a:prstGeom prst="rect">
            <a:avLst/>
          </a:prstGeom>
          <a:noFill/>
          <a:ln/>
        </p:spPr>
        <p:txBody>
          <a:bodyPr wrap="square" lIns="0" tIns="0" rIns="0" bIns="0" rtlCol="0" anchor="t"/>
          <a:lstStyle/>
          <a:p>
            <a:pPr indent="0" marL="0">
              <a:buNone/>
            </a:pPr>
            <a:r>
              <a:rPr lang="en-US" sz="1200" dirty="0">
                <a:solidFill>
                  <a:srgbClr val="1B2430"/>
                </a:solidFill>
              </a:rPr>
              <a:t>Single-metric questions with an official definition; drafting queries and first-draft commentary.</a:t>
            </a:r>
            <a:endParaRPr lang="en-US" sz="1200" dirty="0"/>
          </a:p>
        </p:txBody>
      </p:sp>
      <p:sp>
        <p:nvSpPr>
          <p:cNvPr id="8" name="Text 6"/>
          <p:cNvSpPr txBox="1"/>
          <p:nvPr/>
        </p:nvSpPr>
        <p:spPr>
          <a:xfrm>
            <a:off x="594360" y="320040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RULE</a:t>
            </a:r>
            <a:endParaRPr lang="en-US" sz="1000" dirty="0"/>
          </a:p>
        </p:txBody>
      </p:sp>
      <p:sp>
        <p:nvSpPr>
          <p:cNvPr id="9" name="Text 7"/>
          <p:cNvSpPr txBox="1"/>
          <p:nvPr/>
        </p:nvSpPr>
        <p:spPr>
          <a:xfrm>
            <a:off x="594360" y="3401568"/>
            <a:ext cx="2377440" cy="731520"/>
          </a:xfrm>
          <a:prstGeom prst="rect">
            <a:avLst/>
          </a:prstGeom>
          <a:noFill/>
          <a:ln/>
        </p:spPr>
        <p:txBody>
          <a:bodyPr wrap="square" lIns="0" tIns="0" rIns="0" bIns="0" rtlCol="0" anchor="t"/>
          <a:lstStyle/>
          <a:p>
            <a:pPr indent="0" marL="0">
              <a:buNone/>
            </a:pPr>
            <a:r>
              <a:rPr lang="en-US" sz="1200" b="1" dirty="0">
                <a:solidFill>
                  <a:srgbClr val="1B2430"/>
                </a:solidFill>
              </a:rPr>
              <a:t>AI answers via the governed layer, stamped PROVISIONAL, with a 10% weekly sample check.</a:t>
            </a:r>
            <a:endParaRPr lang="en-US" sz="1200" dirty="0"/>
          </a:p>
        </p:txBody>
      </p:sp>
      <p:sp>
        <p:nvSpPr>
          <p:cNvPr id="10" name="zone card"/>
          <p:cNvSpPr/>
          <p:nvPr/>
        </p:nvSpPr>
        <p:spPr>
          <a:xfrm>
            <a:off x="3246120" y="1325880"/>
            <a:ext cx="2651760" cy="2880360"/>
          </a:xfrm>
          <a:prstGeom prst="roundRect">
            <a:avLst>
              <a:gd name="adj" fmla="val 275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1" name="zone header"/>
          <p:cNvSpPr/>
          <p:nvPr/>
        </p:nvSpPr>
        <p:spPr>
          <a:xfrm>
            <a:off x="3246120" y="1325880"/>
            <a:ext cx="2651760" cy="548640"/>
          </a:xfrm>
          <a:prstGeom prst="roundRect">
            <a:avLst>
              <a:gd name="adj" fmla="val 13333"/>
            </a:avLst>
          </a:prstGeom>
          <a:solidFill>
            <a:srgbClr val="E9A23B"/>
          </a:solidFill>
          <a:ln w="12700">
            <a:solidFill>
              <a:srgbClr val="E9A23B"/>
            </a:solidFill>
            <a:prstDash val="solid"/>
          </a:ln>
        </p:spPr>
      </p:sp>
      <p:sp>
        <p:nvSpPr>
          <p:cNvPr id="12" name="Text 10"/>
          <p:cNvSpPr txBox="1"/>
          <p:nvPr/>
        </p:nvSpPr>
        <p:spPr>
          <a:xfrm>
            <a:off x="3383280" y="1325880"/>
            <a:ext cx="2377440" cy="548640"/>
          </a:xfrm>
          <a:prstGeom prst="rect">
            <a:avLst/>
          </a:prstGeom>
          <a:noFill/>
          <a:ln/>
        </p:spPr>
        <p:txBody>
          <a:bodyPr wrap="square" lIns="0" tIns="0" rIns="0" bIns="0" rtlCol="0" anchor="ctr"/>
          <a:lstStyle/>
          <a:p>
            <a:pPr indent="0" marL="0">
              <a:buNone/>
            </a:pPr>
            <a:r>
              <a:rPr lang="en-US" sz="1600" b="1" dirty="0">
                <a:solidFill>
                  <a:srgbClr val="1B2430"/>
                </a:solidFill>
              </a:rPr>
              <a:t>AMBER: human review</a:t>
            </a:r>
            <a:endParaRPr lang="en-US" sz="1600" dirty="0"/>
          </a:p>
        </p:txBody>
      </p:sp>
      <p:sp>
        <p:nvSpPr>
          <p:cNvPr id="13" name="Text 11"/>
          <p:cNvSpPr txBox="1"/>
          <p:nvPr/>
        </p:nvSpPr>
        <p:spPr>
          <a:xfrm>
            <a:off x="3383280" y="201168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WHEN</a:t>
            </a:r>
            <a:endParaRPr lang="en-US" sz="1000" dirty="0"/>
          </a:p>
        </p:txBody>
      </p:sp>
      <p:sp>
        <p:nvSpPr>
          <p:cNvPr id="14" name="Text 12"/>
          <p:cNvSpPr txBox="1"/>
          <p:nvPr/>
        </p:nvSpPr>
        <p:spPr>
          <a:xfrm>
            <a:off x="3383280" y="2212848"/>
            <a:ext cx="2377440" cy="914400"/>
          </a:xfrm>
          <a:prstGeom prst="rect">
            <a:avLst/>
          </a:prstGeom>
          <a:noFill/>
          <a:ln/>
        </p:spPr>
        <p:txBody>
          <a:bodyPr wrap="square" lIns="0" tIns="0" rIns="0" bIns="0" rtlCol="0" anchor="t"/>
          <a:lstStyle/>
          <a:p>
            <a:pPr indent="0" marL="0">
              <a:buNone/>
            </a:pPr>
            <a:r>
              <a:rPr lang="en-US" sz="1200" dirty="0">
                <a:solidFill>
                  <a:srgbClr val="1B2430"/>
                </a:solidFill>
              </a:rPr>
              <a:t>Decision-driving answers, 'why' questions, revenue, profit or returns for Finance, unreproducible results.</a:t>
            </a:r>
            <a:endParaRPr lang="en-US" sz="1200" dirty="0"/>
          </a:p>
        </p:txBody>
      </p:sp>
      <p:sp>
        <p:nvSpPr>
          <p:cNvPr id="15" name="Text 13"/>
          <p:cNvSpPr txBox="1"/>
          <p:nvPr/>
        </p:nvSpPr>
        <p:spPr>
          <a:xfrm>
            <a:off x="3383280" y="320040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RULE</a:t>
            </a:r>
            <a:endParaRPr lang="en-US" sz="1000" dirty="0"/>
          </a:p>
        </p:txBody>
      </p:sp>
      <p:sp>
        <p:nvSpPr>
          <p:cNvPr id="16" name="Text 14"/>
          <p:cNvSpPr txBox="1"/>
          <p:nvPr/>
        </p:nvSpPr>
        <p:spPr>
          <a:xfrm>
            <a:off x="3383280" y="3401568"/>
            <a:ext cx="2377440" cy="731520"/>
          </a:xfrm>
          <a:prstGeom prst="rect">
            <a:avLst/>
          </a:prstGeom>
          <a:noFill/>
          <a:ln/>
        </p:spPr>
        <p:txBody>
          <a:bodyPr wrap="square" lIns="0" tIns="0" rIns="0" bIns="0" rtlCol="0" anchor="t"/>
          <a:lstStyle/>
          <a:p>
            <a:pPr indent="0" marL="0">
              <a:buNone/>
            </a:pPr>
            <a:r>
              <a:rPr lang="en-US" sz="1200" b="1" dirty="0">
                <a:solidFill>
                  <a:srgbClr val="1B2430"/>
                </a:solidFill>
              </a:rPr>
              <a:t>A human recomputes or interprets and signs off before release.</a:t>
            </a:r>
            <a:endParaRPr lang="en-US" sz="1200" dirty="0"/>
          </a:p>
        </p:txBody>
      </p:sp>
      <p:sp>
        <p:nvSpPr>
          <p:cNvPr id="17" name="zone card"/>
          <p:cNvSpPr/>
          <p:nvPr/>
        </p:nvSpPr>
        <p:spPr>
          <a:xfrm>
            <a:off x="6035040" y="1325880"/>
            <a:ext cx="2651760" cy="2880360"/>
          </a:xfrm>
          <a:prstGeom prst="roundRect">
            <a:avLst>
              <a:gd name="adj" fmla="val 275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8" name="zone header"/>
          <p:cNvSpPr/>
          <p:nvPr/>
        </p:nvSpPr>
        <p:spPr>
          <a:xfrm>
            <a:off x="6035040" y="1325880"/>
            <a:ext cx="2651760" cy="548640"/>
          </a:xfrm>
          <a:prstGeom prst="roundRect">
            <a:avLst>
              <a:gd name="adj" fmla="val 13333"/>
            </a:avLst>
          </a:prstGeom>
          <a:solidFill>
            <a:srgbClr val="C0392B"/>
          </a:solidFill>
          <a:ln w="12700">
            <a:solidFill>
              <a:srgbClr val="C0392B"/>
            </a:solidFill>
            <a:prstDash val="solid"/>
          </a:ln>
        </p:spPr>
      </p:sp>
      <p:sp>
        <p:nvSpPr>
          <p:cNvPr id="19" name="Text 17"/>
          <p:cNvSpPr txBox="1"/>
          <p:nvPr/>
        </p:nvSpPr>
        <p:spPr>
          <a:xfrm>
            <a:off x="6172200" y="1325880"/>
            <a:ext cx="2377440" cy="548640"/>
          </a:xfrm>
          <a:prstGeom prst="rect">
            <a:avLst/>
          </a:prstGeom>
          <a:noFill/>
          <a:ln/>
        </p:spPr>
        <p:txBody>
          <a:bodyPr wrap="square" lIns="0" tIns="0" rIns="0" bIns="0" rtlCol="0" anchor="ctr"/>
          <a:lstStyle/>
          <a:p>
            <a:pPr indent="0" marL="0">
              <a:buNone/>
            </a:pPr>
            <a:r>
              <a:rPr lang="en-US" sz="1600" b="1" dirty="0">
                <a:solidFill>
                  <a:srgbClr val="FFFFFF"/>
                </a:solidFill>
              </a:rPr>
              <a:t>RED: no AI</a:t>
            </a:r>
            <a:endParaRPr lang="en-US" sz="1600" dirty="0"/>
          </a:p>
        </p:txBody>
      </p:sp>
      <p:sp>
        <p:nvSpPr>
          <p:cNvPr id="20" name="Text 18"/>
          <p:cNvSpPr txBox="1"/>
          <p:nvPr/>
        </p:nvSpPr>
        <p:spPr>
          <a:xfrm>
            <a:off x="6172200" y="201168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WHEN</a:t>
            </a:r>
            <a:endParaRPr lang="en-US" sz="1000" dirty="0"/>
          </a:p>
        </p:txBody>
      </p:sp>
      <p:sp>
        <p:nvSpPr>
          <p:cNvPr id="21" name="Text 19"/>
          <p:cNvSpPr txBox="1"/>
          <p:nvPr/>
        </p:nvSpPr>
        <p:spPr>
          <a:xfrm>
            <a:off x="6172200" y="2212848"/>
            <a:ext cx="2377440" cy="914400"/>
          </a:xfrm>
          <a:prstGeom prst="rect">
            <a:avLst/>
          </a:prstGeom>
          <a:noFill/>
          <a:ln/>
        </p:spPr>
        <p:txBody>
          <a:bodyPr wrap="square" lIns="0" tIns="0" rIns="0" bIns="0" rtlCol="0" anchor="t"/>
          <a:lstStyle/>
          <a:p>
            <a:pPr indent="0" marL="0">
              <a:buNone/>
            </a:pPr>
            <a:r>
              <a:rPr lang="en-US" sz="1200" dirty="0">
                <a:solidFill>
                  <a:srgbClr val="1B2430"/>
                </a:solidFill>
              </a:rPr>
              <a:t>Names, emails or other personal data; selecting customers for marketing; legal or ethical accountability.</a:t>
            </a:r>
            <a:endParaRPr lang="en-US" sz="1200" dirty="0"/>
          </a:p>
        </p:txBody>
      </p:sp>
      <p:sp>
        <p:nvSpPr>
          <p:cNvPr id="22" name="Text 20"/>
          <p:cNvSpPr txBox="1"/>
          <p:nvPr/>
        </p:nvSpPr>
        <p:spPr>
          <a:xfrm>
            <a:off x="6172200" y="3200400"/>
            <a:ext cx="2377440" cy="182880"/>
          </a:xfrm>
          <a:prstGeom prst="rect">
            <a:avLst/>
          </a:prstGeom>
          <a:noFill/>
          <a:ln/>
        </p:spPr>
        <p:txBody>
          <a:bodyPr wrap="square" lIns="0" tIns="0" rIns="0" bIns="0" rtlCol="0" anchor="t"/>
          <a:lstStyle/>
          <a:p>
            <a:pPr indent="0" marL="0">
              <a:buNone/>
            </a:pPr>
            <a:r>
              <a:rPr lang="en-US" sz="1000" b="1" dirty="0">
                <a:solidFill>
                  <a:srgbClr val="5B6B7C"/>
                </a:solidFill>
              </a:rPr>
              <a:t>RULE</a:t>
            </a:r>
            <a:endParaRPr lang="en-US" sz="1000" dirty="0"/>
          </a:p>
        </p:txBody>
      </p:sp>
      <p:sp>
        <p:nvSpPr>
          <p:cNvPr id="23" name="Text 21"/>
          <p:cNvSpPr txBox="1"/>
          <p:nvPr/>
        </p:nvSpPr>
        <p:spPr>
          <a:xfrm>
            <a:off x="6172200" y="3401568"/>
            <a:ext cx="2377440" cy="731520"/>
          </a:xfrm>
          <a:prstGeom prst="rect">
            <a:avLst/>
          </a:prstGeom>
          <a:noFill/>
          <a:ln/>
        </p:spPr>
        <p:txBody>
          <a:bodyPr wrap="square" lIns="0" tIns="0" rIns="0" bIns="0" rtlCol="0" anchor="t"/>
          <a:lstStyle/>
          <a:p>
            <a:pPr indent="0" marL="0">
              <a:buNone/>
            </a:pPr>
            <a:r>
              <a:rPr lang="en-US" sz="1200" b="1" dirty="0">
                <a:solidFill>
                  <a:srgbClr val="1B2430"/>
                </a:solidFill>
              </a:rPr>
              <a:t>AI must not retrieve or display it. Human decision only, with the DPO involved.</a:t>
            </a:r>
            <a:endParaRPr lang="en-US" sz="1200" dirty="0"/>
          </a:p>
        </p:txBody>
      </p:sp>
      <p:sp>
        <p:nvSpPr>
          <p:cNvPr id="24" name="always banner"/>
          <p:cNvSpPr/>
          <p:nvPr/>
        </p:nvSpPr>
        <p:spPr>
          <a:xfrm>
            <a:off x="457200" y="4343400"/>
            <a:ext cx="8229600" cy="411480"/>
          </a:xfrm>
          <a:prstGeom prst="roundRect">
            <a:avLst>
              <a:gd name="adj" fmla="val 17778"/>
            </a:avLst>
          </a:prstGeom>
          <a:solidFill>
            <a:srgbClr val="1B2430"/>
          </a:solidFill>
          <a:ln w="12700">
            <a:solidFill>
              <a:srgbClr val="1B2430"/>
            </a:solidFill>
            <a:prstDash val="solid"/>
          </a:ln>
        </p:spPr>
      </p:sp>
      <p:sp>
        <p:nvSpPr>
          <p:cNvPr id="25" name="Text 23"/>
          <p:cNvSpPr txBox="1"/>
          <p:nvPr/>
        </p:nvSpPr>
        <p:spPr>
          <a:xfrm>
            <a:off x="640080" y="4343400"/>
            <a:ext cx="7863840" cy="411480"/>
          </a:xfrm>
          <a:prstGeom prst="rect">
            <a:avLst/>
          </a:prstGeom>
          <a:noFill/>
          <a:ln/>
        </p:spPr>
        <p:txBody>
          <a:bodyPr wrap="square" lIns="0" tIns="0" rIns="0" bIns="0" rtlCol="0" anchor="ctr"/>
          <a:lstStyle/>
          <a:p>
            <a:pPr indent="0" marL="0">
              <a:buNone/>
            </a:pPr>
            <a:r>
              <a:rPr lang="en-US" sz="1400" b="1" dirty="0">
                <a:solidFill>
                  <a:srgbClr val="FFFFFF"/>
                </a:solidFill>
              </a:rPr>
              <a:t>Always: log every answer. Confidence is never evidence.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Analyst work shifts: AI saves time, but most of it returns as new work</a:t>
            </a:r>
            <a:endParaRPr lang="en-US" sz="2800" dirty="0"/>
          </a:p>
        </p:txBody>
      </p:sp>
      <p:graphicFrame>
        <p:nvGraphicFramePr>
          <p:cNvPr id="3" name="Chart 0" descr=""/>
          <p:cNvGraphicFramePr/>
          <p:nvPr/>
        </p:nvGraphicFramePr>
        <p:xfrm>
          <a:off x="365760" y="1280160"/>
          <a:ext cx="5120640" cy="3154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526280"/>
            <a:ext cx="5029200" cy="228600"/>
          </a:xfrm>
          <a:prstGeom prst="rect">
            <a:avLst/>
          </a:prstGeom>
          <a:noFill/>
          <a:ln/>
        </p:spPr>
        <p:txBody>
          <a:bodyPr wrap="square" lIns="0" tIns="0" rIns="0" bIns="0" rtlCol="0" anchor="t"/>
          <a:lstStyle/>
          <a:p>
            <a:pPr indent="0" marL="0">
              <a:buNone/>
            </a:pPr>
            <a:r>
              <a:rPr lang="en-US" sz="1000" dirty="0">
                <a:solidFill>
                  <a:srgbClr val="5B6B7C"/>
                </a:solidFill>
              </a:rPr>
              <a:t>Planning assumptions from the AI Exposure Scorecard; editable, not measured benchmarks.</a:t>
            </a:r>
            <a:endParaRPr lang="en-US" sz="1000" dirty="0"/>
          </a:p>
        </p:txBody>
      </p:sp>
      <p:sp>
        <p:nvSpPr>
          <p:cNvPr id="5" name="stat row"/>
          <p:cNvSpPr/>
          <p:nvPr/>
        </p:nvSpPr>
        <p:spPr>
          <a:xfrm>
            <a:off x="5760720" y="1325880"/>
            <a:ext cx="2926080" cy="960120"/>
          </a:xfrm>
          <a:prstGeom prst="roundRect">
            <a:avLst>
              <a:gd name="adj" fmla="val 761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943600" y="1371600"/>
            <a:ext cx="1188720" cy="868680"/>
          </a:xfrm>
          <a:prstGeom prst="rect">
            <a:avLst/>
          </a:prstGeom>
          <a:noFill/>
          <a:ln/>
        </p:spPr>
        <p:txBody>
          <a:bodyPr wrap="square" lIns="0" tIns="0" rIns="0" bIns="0" rtlCol="0" anchor="ctr"/>
          <a:lstStyle/>
          <a:p>
            <a:pPr indent="0" marL="0">
              <a:buNone/>
            </a:pPr>
            <a:r>
              <a:rPr lang="en-US" sz="2800" b="1" dirty="0">
                <a:solidFill>
                  <a:srgbClr val="D9622B"/>
                </a:solidFill>
                <a:latin typeface="+mj-lt" pitchFamily="34" charset="0"/>
                <a:ea typeface="+mj-lt" pitchFamily="34" charset="-122"/>
                <a:cs typeface="+mj-lt" pitchFamily="34" charset="-120"/>
              </a:rPr>
              <a:t>39%</a:t>
            </a:r>
            <a:endParaRPr lang="en-US" sz="2800" dirty="0"/>
          </a:p>
        </p:txBody>
      </p:sp>
      <p:sp>
        <p:nvSpPr>
          <p:cNvPr id="7" name="Text 4"/>
          <p:cNvSpPr txBox="1"/>
          <p:nvPr/>
        </p:nvSpPr>
        <p:spPr>
          <a:xfrm>
            <a:off x="7132320" y="1371600"/>
            <a:ext cx="1463040" cy="868680"/>
          </a:xfrm>
          <a:prstGeom prst="rect">
            <a:avLst/>
          </a:prstGeom>
          <a:noFill/>
          <a:ln/>
        </p:spPr>
        <p:txBody>
          <a:bodyPr wrap="square" lIns="0" tIns="0" rIns="0" bIns="0" rtlCol="0" anchor="ctr"/>
          <a:lstStyle/>
          <a:p>
            <a:pPr indent="0" marL="0">
              <a:buNone/>
            </a:pPr>
            <a:r>
              <a:rPr lang="en-US" sz="1200" dirty="0">
                <a:solidFill>
                  <a:srgbClr val="1B2430"/>
                </a:solidFill>
              </a:rPr>
              <a:t>of analyst hours (37 of 94) can be automated or assisted</a:t>
            </a:r>
            <a:endParaRPr lang="en-US" sz="1200" dirty="0"/>
          </a:p>
        </p:txBody>
      </p:sp>
      <p:sp>
        <p:nvSpPr>
          <p:cNvPr id="8" name="stat row"/>
          <p:cNvSpPr/>
          <p:nvPr/>
        </p:nvSpPr>
        <p:spPr>
          <a:xfrm>
            <a:off x="5760720" y="2423160"/>
            <a:ext cx="2926080" cy="960120"/>
          </a:xfrm>
          <a:prstGeom prst="roundRect">
            <a:avLst>
              <a:gd name="adj" fmla="val 761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5943600" y="2468880"/>
            <a:ext cx="1188720" cy="868680"/>
          </a:xfrm>
          <a:prstGeom prst="rect">
            <a:avLst/>
          </a:prstGeom>
          <a:noFill/>
          <a:ln/>
        </p:spPr>
        <p:txBody>
          <a:bodyPr wrap="square" lIns="0" tIns="0" rIns="0" bIns="0" rtlCol="0" anchor="ctr"/>
          <a:lstStyle/>
          <a:p>
            <a:pPr indent="0" marL="0">
              <a:buNone/>
            </a:pPr>
            <a:r>
              <a:rPr lang="en-US" sz="2800" b="1" dirty="0">
                <a:solidFill>
                  <a:srgbClr val="D9622B"/>
                </a:solidFill>
                <a:latin typeface="+mj-lt" pitchFamily="34" charset="0"/>
                <a:ea typeface="+mj-lt" pitchFamily="34" charset="-122"/>
                <a:cs typeface="+mj-lt" pitchFamily="34" charset="-120"/>
              </a:rPr>
              <a:t>65%</a:t>
            </a:r>
            <a:endParaRPr lang="en-US" sz="2800" dirty="0"/>
          </a:p>
        </p:txBody>
      </p:sp>
      <p:sp>
        <p:nvSpPr>
          <p:cNvPr id="10" name="Text 7"/>
          <p:cNvSpPr txBox="1"/>
          <p:nvPr/>
        </p:nvSpPr>
        <p:spPr>
          <a:xfrm>
            <a:off x="7132320" y="2468880"/>
            <a:ext cx="1463040" cy="868680"/>
          </a:xfrm>
          <a:prstGeom prst="rect">
            <a:avLst/>
          </a:prstGeom>
          <a:noFill/>
          <a:ln/>
        </p:spPr>
        <p:txBody>
          <a:bodyPr wrap="square" lIns="0" tIns="0" rIns="0" bIns="0" rtlCol="0" anchor="ctr"/>
          <a:lstStyle/>
          <a:p>
            <a:pPr indent="0" marL="0">
              <a:buNone/>
            </a:pPr>
            <a:r>
              <a:rPr lang="en-US" sz="1200" dirty="0">
                <a:solidFill>
                  <a:srgbClr val="1B2430"/>
                </a:solidFill>
              </a:rPr>
              <a:t>of that time returns as validation, governance and interpretation</a:t>
            </a:r>
            <a:endParaRPr lang="en-US" sz="1200" dirty="0"/>
          </a:p>
        </p:txBody>
      </p:sp>
      <p:sp>
        <p:nvSpPr>
          <p:cNvPr id="11" name="stat row"/>
          <p:cNvSpPr/>
          <p:nvPr/>
        </p:nvSpPr>
        <p:spPr>
          <a:xfrm>
            <a:off x="5760720" y="3520440"/>
            <a:ext cx="2926080" cy="960120"/>
          </a:xfrm>
          <a:prstGeom prst="roundRect">
            <a:avLst>
              <a:gd name="adj" fmla="val 7619"/>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5943600" y="3566160"/>
            <a:ext cx="1188720" cy="868680"/>
          </a:xfrm>
          <a:prstGeom prst="rect">
            <a:avLst/>
          </a:prstGeom>
          <a:noFill/>
          <a:ln/>
        </p:spPr>
        <p:txBody>
          <a:bodyPr wrap="square" lIns="0" tIns="0" rIns="0" bIns="0" rtlCol="0" anchor="ctr"/>
          <a:lstStyle/>
          <a:p>
            <a:pPr indent="0" marL="0">
              <a:buNone/>
            </a:pPr>
            <a:r>
              <a:rPr lang="en-US" sz="2800" b="1" dirty="0">
                <a:solidFill>
                  <a:srgbClr val="D9622B"/>
                </a:solidFill>
                <a:latin typeface="+mj-lt" pitchFamily="34" charset="0"/>
                <a:ea typeface="+mj-lt" pitchFamily="34" charset="-122"/>
                <a:cs typeface="+mj-lt" pitchFamily="34" charset="-120"/>
              </a:rPr>
              <a:t>~13 h</a:t>
            </a:r>
            <a:endParaRPr lang="en-US" sz="2800" dirty="0"/>
          </a:p>
        </p:txBody>
      </p:sp>
      <p:sp>
        <p:nvSpPr>
          <p:cNvPr id="13" name="Text 10"/>
          <p:cNvSpPr txBox="1"/>
          <p:nvPr/>
        </p:nvSpPr>
        <p:spPr>
          <a:xfrm>
            <a:off x="7132320" y="3566160"/>
            <a:ext cx="1463040" cy="868680"/>
          </a:xfrm>
          <a:prstGeom prst="rect">
            <a:avLst/>
          </a:prstGeom>
          <a:noFill/>
          <a:ln/>
        </p:spPr>
        <p:txBody>
          <a:bodyPr wrap="square" lIns="0" tIns="0" rIns="0" bIns="0" rtlCol="0" anchor="ctr"/>
          <a:lstStyle/>
          <a:p>
            <a:pPr indent="0" marL="0">
              <a:buNone/>
            </a:pPr>
            <a:r>
              <a:rPr lang="en-US" sz="1200" dirty="0">
                <a:solidFill>
                  <a:srgbClr val="1B2430"/>
                </a:solidFill>
              </a:rPr>
              <a:t>a week (0.35 FTE) left for deeper analysis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The Data Analyst becomes the owner of analytical truth</a:t>
            </a:r>
            <a:endParaRPr lang="en-US" sz="2800" dirty="0"/>
          </a:p>
        </p:txBody>
      </p:sp>
      <p:sp>
        <p:nvSpPr>
          <p:cNvPr id="3" name="role card"/>
          <p:cNvSpPr/>
          <p:nvPr/>
        </p:nvSpPr>
        <p:spPr>
          <a:xfrm>
            <a:off x="457200" y="1325880"/>
            <a:ext cx="3108960" cy="3337560"/>
          </a:xfrm>
          <a:prstGeom prst="roundRect">
            <a:avLst>
              <a:gd name="adj" fmla="val 2353"/>
            </a:avLst>
          </a:prstGeom>
          <a:solidFill>
            <a:srgbClr val="1B2430"/>
          </a:solidFill>
          <a:ln w="12700">
            <a:solidFill>
              <a:srgbClr val="1B2430"/>
            </a:solidFill>
            <a:prstDash val="solid"/>
          </a:ln>
        </p:spPr>
      </p:sp>
      <p:sp>
        <p:nvSpPr>
          <p:cNvPr id="4" name="Text 2"/>
          <p:cNvSpPr txBox="1"/>
          <p:nvPr/>
        </p:nvSpPr>
        <p:spPr>
          <a:xfrm>
            <a:off x="685800" y="1508760"/>
            <a:ext cx="2651760" cy="228600"/>
          </a:xfrm>
          <a:prstGeom prst="rect">
            <a:avLst/>
          </a:prstGeom>
          <a:noFill/>
          <a:ln/>
        </p:spPr>
        <p:txBody>
          <a:bodyPr wrap="square" lIns="0" tIns="0" rIns="0" bIns="0" rtlCol="0" anchor="t"/>
          <a:lstStyle/>
          <a:p>
            <a:pPr indent="0" marL="0">
              <a:buNone/>
            </a:pPr>
            <a:r>
              <a:rPr lang="en-US" sz="1100" b="1" dirty="0">
                <a:solidFill>
                  <a:srgbClr val="D9622B"/>
                </a:solidFill>
              </a:rPr>
              <a:t>EVOLVES INTO</a:t>
            </a:r>
            <a:endParaRPr lang="en-US" sz="1100" dirty="0"/>
          </a:p>
        </p:txBody>
      </p:sp>
      <p:sp>
        <p:nvSpPr>
          <p:cNvPr id="5" name="Text 3"/>
          <p:cNvSpPr txBox="1"/>
          <p:nvPr/>
        </p:nvSpPr>
        <p:spPr>
          <a:xfrm>
            <a:off x="685800" y="1783080"/>
            <a:ext cx="2651760" cy="822960"/>
          </a:xfrm>
          <a:prstGeom prst="rect">
            <a:avLst/>
          </a:prstGeom>
          <a:noFill/>
          <a:ln/>
        </p:spPr>
        <p:txBody>
          <a:bodyPr wrap="square" lIns="0" tIns="0" rIns="0" bIns="0" rtlCol="0" anchor="t"/>
          <a:lstStyle/>
          <a:p>
            <a:pPr indent="0" marL="0">
              <a:buNone/>
            </a:pPr>
            <a:r>
              <a:rPr lang="en-US" sz="2200" b="1" dirty="0">
                <a:solidFill>
                  <a:srgbClr val="FFFFFF"/>
                </a:solidFill>
                <a:latin typeface="+mj-lt" pitchFamily="34" charset="0"/>
                <a:ea typeface="+mj-lt" pitchFamily="34" charset="-122"/>
                <a:cs typeface="+mj-lt" pitchFamily="34" charset="-120"/>
              </a:rPr>
              <a:t>Analytics Assurance &amp; Insight Lead</a:t>
            </a:r>
            <a:endParaRPr lang="en-US" sz="2200" dirty="0"/>
          </a:p>
        </p:txBody>
      </p:sp>
      <p:sp>
        <p:nvSpPr>
          <p:cNvPr id="6" name="Text 4"/>
          <p:cNvSpPr txBox="1"/>
          <p:nvPr/>
        </p:nvSpPr>
        <p:spPr>
          <a:xfrm>
            <a:off x="685800" y="2651760"/>
            <a:ext cx="2651760" cy="640080"/>
          </a:xfrm>
          <a:prstGeom prst="rect">
            <a:avLst/>
          </a:prstGeom>
          <a:noFill/>
          <a:ln/>
        </p:spPr>
        <p:txBody>
          <a:bodyPr wrap="square" lIns="0" tIns="0" rIns="0" bIns="0" rtlCol="0" anchor="t"/>
          <a:lstStyle/>
          <a:p>
            <a:pPr indent="0" marL="0">
              <a:buNone/>
            </a:pPr>
            <a:r>
              <a:rPr lang="en-US" sz="1300" dirty="0">
                <a:solidFill>
                  <a:srgbClr val="CBD2D9"/>
                </a:solidFill>
              </a:rPr>
              <a:t>Makes AI-produced analysis trustworthy, compliant and decision-ready.</a:t>
            </a:r>
            <a:endParaRPr lang="en-US" sz="1300" dirty="0"/>
          </a:p>
        </p:txBody>
      </p:sp>
      <p:sp>
        <p:nvSpPr>
          <p:cNvPr id="7" name="Text 5"/>
          <p:cNvSpPr txBox="1"/>
          <p:nvPr/>
        </p:nvSpPr>
        <p:spPr>
          <a:xfrm>
            <a:off x="685800" y="3383280"/>
            <a:ext cx="2651760" cy="228600"/>
          </a:xfrm>
          <a:prstGeom prst="rect">
            <a:avLst/>
          </a:prstGeom>
          <a:noFill/>
          <a:ln/>
        </p:spPr>
        <p:txBody>
          <a:bodyPr wrap="square" lIns="0" tIns="0" rIns="0" bIns="0" rtlCol="0" anchor="t"/>
          <a:lstStyle/>
          <a:p>
            <a:pPr indent="0" marL="0">
              <a:buNone/>
            </a:pPr>
            <a:r>
              <a:rPr lang="en-US" sz="1100" b="1" dirty="0">
                <a:solidFill>
                  <a:srgbClr val="D9622B"/>
                </a:solidFill>
              </a:rPr>
              <a:t>SKILLS THAT GROW</a:t>
            </a:r>
            <a:endParaRPr lang="en-US" sz="1100" dirty="0"/>
          </a:p>
        </p:txBody>
      </p:sp>
      <p:sp>
        <p:nvSpPr>
          <p:cNvPr id="8" name="Text 6"/>
          <p:cNvSpPr txBox="1"/>
          <p:nvPr/>
        </p:nvSpPr>
        <p:spPr>
          <a:xfrm>
            <a:off x="685800" y="3630168"/>
            <a:ext cx="2651760" cy="914400"/>
          </a:xfrm>
          <a:prstGeom prst="rect">
            <a:avLst/>
          </a:prstGeom>
          <a:noFill/>
          <a:ln/>
        </p:spPr>
        <p:txBody>
          <a:bodyPr wrap="square" lIns="0" tIns="0" rIns="0" bIns="0" rtlCol="0" anchor="t"/>
          <a:lstStyle/>
          <a:p>
            <a:pPr indent="0" marL="0">
              <a:buNone/>
            </a:pPr>
            <a:r>
              <a:rPr lang="en-US" sz="1200" dirty="0">
                <a:solidFill>
                  <a:srgbClr val="FFFFFF"/>
                </a:solidFill>
              </a:rPr>
              <a:t>Metric literacy, SQL and Excel recomputation, privacy and consent, causal reasoning, storytelling, guardrail testing</a:t>
            </a:r>
            <a:endParaRPr lang="en-US" sz="1200" dirty="0"/>
          </a:p>
        </p:txBody>
      </p:sp>
      <p:sp>
        <p:nvSpPr>
          <p:cNvPr id="9" name="number circle"/>
          <p:cNvSpPr/>
          <p:nvPr/>
        </p:nvSpPr>
        <p:spPr>
          <a:xfrm>
            <a:off x="3886200" y="1399032"/>
            <a:ext cx="365760" cy="365760"/>
          </a:xfrm>
          <a:prstGeom prst="ellipse">
            <a:avLst/>
          </a:prstGeom>
          <a:solidFill>
            <a:srgbClr val="D9622B"/>
          </a:solidFill>
          <a:ln w="12700">
            <a:solidFill>
              <a:srgbClr val="D9622B"/>
            </a:solidFill>
            <a:prstDash val="solid"/>
          </a:ln>
        </p:spPr>
      </p:sp>
      <p:sp>
        <p:nvSpPr>
          <p:cNvPr id="10" name="Text 8"/>
          <p:cNvSpPr txBox="1"/>
          <p:nvPr/>
        </p:nvSpPr>
        <p:spPr>
          <a:xfrm>
            <a:off x="3886200" y="13990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txBox="1"/>
          <p:nvPr/>
        </p:nvSpPr>
        <p:spPr>
          <a:xfrm>
            <a:off x="4434840" y="1325880"/>
            <a:ext cx="4251960" cy="566928"/>
          </a:xfrm>
          <a:prstGeom prst="rect">
            <a:avLst/>
          </a:prstGeom>
          <a:noFill/>
          <a:ln/>
        </p:spPr>
        <p:txBody>
          <a:bodyPr wrap="square" lIns="0" tIns="0" rIns="0" bIns="0" rtlCol="0" anchor="t"/>
          <a:lstStyle/>
          <a:p>
            <a:pPr indent="0" marL="0">
              <a:buNone/>
            </a:pPr>
            <a:r>
              <a:rPr lang="en-US" sz="1500" b="1" dirty="0">
                <a:solidFill>
                  <a:srgbClr val="1B2430"/>
                </a:solidFill>
              </a:rPr>
              <a:t>Own the metric layer</a:t>
            </a:r>
            <a:endParaRPr lang="en-US" sz="1500" dirty="0"/>
          </a:p>
          <a:p>
            <a:pPr indent="0" marL="0">
              <a:buNone/>
            </a:pPr>
            <a:r>
              <a:rPr lang="en-US" sz="1200" dirty="0">
                <a:solidFill>
                  <a:srgbClr val="5B6B7C"/>
                </a:solidFill>
              </a:rPr>
              <a:t>Define and version Completed Order, Net Revenue, Profit, Return Rate</a:t>
            </a:r>
            <a:endParaRPr lang="en-US" sz="1500" dirty="0"/>
          </a:p>
        </p:txBody>
      </p:sp>
      <p:sp>
        <p:nvSpPr>
          <p:cNvPr id="12" name="number circle"/>
          <p:cNvSpPr/>
          <p:nvPr/>
        </p:nvSpPr>
        <p:spPr>
          <a:xfrm>
            <a:off x="3886200" y="2075688"/>
            <a:ext cx="365760" cy="365760"/>
          </a:xfrm>
          <a:prstGeom prst="ellipse">
            <a:avLst/>
          </a:prstGeom>
          <a:solidFill>
            <a:srgbClr val="D9622B"/>
          </a:solidFill>
          <a:ln w="12700">
            <a:solidFill>
              <a:srgbClr val="D9622B"/>
            </a:solidFill>
            <a:prstDash val="solid"/>
          </a:ln>
        </p:spPr>
      </p:sp>
      <p:sp>
        <p:nvSpPr>
          <p:cNvPr id="13" name="Text 11"/>
          <p:cNvSpPr txBox="1"/>
          <p:nvPr/>
        </p:nvSpPr>
        <p:spPr>
          <a:xfrm>
            <a:off x="3886200" y="20756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txBox="1"/>
          <p:nvPr/>
        </p:nvSpPr>
        <p:spPr>
          <a:xfrm>
            <a:off x="4434840" y="2002536"/>
            <a:ext cx="4251960" cy="566928"/>
          </a:xfrm>
          <a:prstGeom prst="rect">
            <a:avLst/>
          </a:prstGeom>
          <a:noFill/>
          <a:ln/>
        </p:spPr>
        <p:txBody>
          <a:bodyPr wrap="square" lIns="0" tIns="0" rIns="0" bIns="0" rtlCol="0" anchor="t"/>
          <a:lstStyle/>
          <a:p>
            <a:pPr indent="0" marL="0">
              <a:buNone/>
            </a:pPr>
            <a:r>
              <a:rPr lang="en-US" sz="1500" b="1" dirty="0">
                <a:solidFill>
                  <a:srgbClr val="1B2430"/>
                </a:solidFill>
              </a:rPr>
              <a:t>Validate AI output</a:t>
            </a:r>
            <a:endParaRPr lang="en-US" sz="1500" dirty="0"/>
          </a:p>
          <a:p>
            <a:pPr indent="0" marL="0">
              <a:buNone/>
            </a:pPr>
            <a:r>
              <a:rPr lang="en-US" sz="1200" dirty="0">
                <a:solidFill>
                  <a:srgbClr val="5B6B7C"/>
                </a:solidFill>
              </a:rPr>
              <a:t>Recompute, then release, caveat, reject or block</a:t>
            </a:r>
            <a:endParaRPr lang="en-US" sz="1500" dirty="0"/>
          </a:p>
        </p:txBody>
      </p:sp>
      <p:sp>
        <p:nvSpPr>
          <p:cNvPr id="15" name="number circle"/>
          <p:cNvSpPr/>
          <p:nvPr/>
        </p:nvSpPr>
        <p:spPr>
          <a:xfrm>
            <a:off x="3886200" y="2752344"/>
            <a:ext cx="365760" cy="365760"/>
          </a:xfrm>
          <a:prstGeom prst="ellipse">
            <a:avLst/>
          </a:prstGeom>
          <a:solidFill>
            <a:srgbClr val="D9622B"/>
          </a:solidFill>
          <a:ln w="12700">
            <a:solidFill>
              <a:srgbClr val="D9622B"/>
            </a:solidFill>
            <a:prstDash val="solid"/>
          </a:ln>
        </p:spPr>
      </p:sp>
      <p:sp>
        <p:nvSpPr>
          <p:cNvPr id="16" name="Text 14"/>
          <p:cNvSpPr txBox="1"/>
          <p:nvPr/>
        </p:nvSpPr>
        <p:spPr>
          <a:xfrm>
            <a:off x="3886200" y="27523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txBox="1"/>
          <p:nvPr/>
        </p:nvSpPr>
        <p:spPr>
          <a:xfrm>
            <a:off x="4434840" y="2679192"/>
            <a:ext cx="4251960" cy="566928"/>
          </a:xfrm>
          <a:prstGeom prst="rect">
            <a:avLst/>
          </a:prstGeom>
          <a:noFill/>
          <a:ln/>
        </p:spPr>
        <p:txBody>
          <a:bodyPr wrap="square" lIns="0" tIns="0" rIns="0" bIns="0" rtlCol="0" anchor="t"/>
          <a:lstStyle/>
          <a:p>
            <a:pPr indent="0" marL="0">
              <a:buNone/>
            </a:pPr>
            <a:r>
              <a:rPr lang="en-US" sz="1500" b="1" dirty="0">
                <a:solidFill>
                  <a:srgbClr val="1B2430"/>
                </a:solidFill>
              </a:rPr>
              <a:t>Govern data use</a:t>
            </a:r>
            <a:endParaRPr lang="en-US" sz="1500" dirty="0"/>
          </a:p>
          <a:p>
            <a:pPr indent="0" marL="0">
              <a:buNone/>
            </a:pPr>
            <a:r>
              <a:rPr lang="en-US" sz="1200" dirty="0">
                <a:solidFill>
                  <a:srgbClr val="5B6B7C"/>
                </a:solidFill>
              </a:rPr>
              <a:t>Apply consent and privacy rules; keep the audit trail</a:t>
            </a:r>
            <a:endParaRPr lang="en-US" sz="1500" dirty="0"/>
          </a:p>
        </p:txBody>
      </p:sp>
      <p:sp>
        <p:nvSpPr>
          <p:cNvPr id="18" name="number circle"/>
          <p:cNvSpPr/>
          <p:nvPr/>
        </p:nvSpPr>
        <p:spPr>
          <a:xfrm>
            <a:off x="3886200" y="3429000"/>
            <a:ext cx="365760" cy="365760"/>
          </a:xfrm>
          <a:prstGeom prst="ellipse">
            <a:avLst/>
          </a:prstGeom>
          <a:solidFill>
            <a:srgbClr val="D9622B"/>
          </a:solidFill>
          <a:ln w="12700">
            <a:solidFill>
              <a:srgbClr val="D9622B"/>
            </a:solidFill>
            <a:prstDash val="solid"/>
          </a:ln>
        </p:spPr>
      </p:sp>
      <p:sp>
        <p:nvSpPr>
          <p:cNvPr id="19" name="Text 17"/>
          <p:cNvSpPr txBox="1"/>
          <p:nvPr/>
        </p:nvSpPr>
        <p:spPr>
          <a:xfrm>
            <a:off x="3886200" y="3429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 18"/>
          <p:cNvSpPr txBox="1"/>
          <p:nvPr/>
        </p:nvSpPr>
        <p:spPr>
          <a:xfrm>
            <a:off x="4434840" y="3355848"/>
            <a:ext cx="4251960" cy="566928"/>
          </a:xfrm>
          <a:prstGeom prst="rect">
            <a:avLst/>
          </a:prstGeom>
          <a:noFill/>
          <a:ln/>
        </p:spPr>
        <p:txBody>
          <a:bodyPr wrap="square" lIns="0" tIns="0" rIns="0" bIns="0" rtlCol="0" anchor="t"/>
          <a:lstStyle/>
          <a:p>
            <a:pPr indent="0" marL="0">
              <a:buNone/>
            </a:pPr>
            <a:r>
              <a:rPr lang="en-US" sz="1500" b="1" dirty="0">
                <a:solidFill>
                  <a:srgbClr val="1B2430"/>
                </a:solidFill>
              </a:rPr>
              <a:t>Frame and interpret</a:t>
            </a:r>
            <a:endParaRPr lang="en-US" sz="1500" dirty="0"/>
          </a:p>
          <a:p>
            <a:pPr indent="0" marL="0">
              <a:buNone/>
            </a:pPr>
            <a:r>
              <a:rPr lang="en-US" sz="1200" dirty="0">
                <a:solidFill>
                  <a:srgbClr val="5B6B7C"/>
                </a:solidFill>
              </a:rPr>
              <a:t>Turn 'lowest profit' into 'is it underperforming?'</a:t>
            </a:r>
            <a:endParaRPr lang="en-US" sz="1500" dirty="0"/>
          </a:p>
        </p:txBody>
      </p:sp>
      <p:sp>
        <p:nvSpPr>
          <p:cNvPr id="21" name="number circle"/>
          <p:cNvSpPr/>
          <p:nvPr/>
        </p:nvSpPr>
        <p:spPr>
          <a:xfrm>
            <a:off x="3886200" y="4105656"/>
            <a:ext cx="365760" cy="365760"/>
          </a:xfrm>
          <a:prstGeom prst="ellipse">
            <a:avLst/>
          </a:prstGeom>
          <a:solidFill>
            <a:srgbClr val="D9622B"/>
          </a:solidFill>
          <a:ln w="12700">
            <a:solidFill>
              <a:srgbClr val="D9622B"/>
            </a:solidFill>
            <a:prstDash val="solid"/>
          </a:ln>
        </p:spPr>
      </p:sp>
      <p:sp>
        <p:nvSpPr>
          <p:cNvPr id="22" name="Text 20"/>
          <p:cNvSpPr txBox="1"/>
          <p:nvPr/>
        </p:nvSpPr>
        <p:spPr>
          <a:xfrm>
            <a:off x="3886200" y="41056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txBox="1"/>
          <p:nvPr/>
        </p:nvSpPr>
        <p:spPr>
          <a:xfrm>
            <a:off x="4434840" y="4032504"/>
            <a:ext cx="4251960" cy="566928"/>
          </a:xfrm>
          <a:prstGeom prst="rect">
            <a:avLst/>
          </a:prstGeom>
          <a:noFill/>
          <a:ln/>
        </p:spPr>
        <p:txBody>
          <a:bodyPr wrap="square" lIns="0" tIns="0" rIns="0" bIns="0" rtlCol="0" anchor="t"/>
          <a:lstStyle/>
          <a:p>
            <a:pPr indent="0" marL="0">
              <a:buNone/>
            </a:pPr>
            <a:r>
              <a:rPr lang="en-US" sz="1500" b="1" dirty="0">
                <a:solidFill>
                  <a:srgbClr val="1B2430"/>
                </a:solidFill>
              </a:rPr>
              <a:t>Communicate uncertainty</a:t>
            </a:r>
            <a:endParaRPr lang="en-US" sz="1500" dirty="0"/>
          </a:p>
          <a:p>
            <a:pPr indent="0" marL="0">
              <a:buNone/>
            </a:pPr>
            <a:r>
              <a:rPr lang="en-US" sz="1200" dirty="0">
                <a:solidFill>
                  <a:srgbClr val="5B6B7C"/>
                </a:solidFill>
              </a:rPr>
              <a:t>State limits: one year of data, narrow gaps</a:t>
            </a:r>
            <a:endParaRPr lang="en-US" sz="15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800" b="1" dirty="0">
                <a:solidFill>
                  <a:schemeClr val="tx1"/>
                </a:solidFill>
              </a:rPr>
              <a:t>A 12-week path to validation analyst</a:t>
            </a:r>
            <a:endParaRPr lang="en-US" sz="2800" dirty="0"/>
          </a:p>
        </p:txBody>
      </p:sp>
      <p:sp>
        <p:nvSpPr>
          <p:cNvPr id="3" name="Text 1"/>
          <p:cNvSpPr txBox="1"/>
          <p:nvPr/>
        </p:nvSpPr>
        <p:spPr>
          <a:xfrm>
            <a:off x="457200" y="1234440"/>
            <a:ext cx="8229600" cy="457200"/>
          </a:xfrm>
          <a:prstGeom prst="rect">
            <a:avLst/>
          </a:prstGeom>
          <a:noFill/>
          <a:ln/>
        </p:spPr>
        <p:txBody>
          <a:bodyPr wrap="square" lIns="0" tIns="0" rIns="0" bIns="0" rtlCol="0" anchor="t"/>
          <a:lstStyle/>
          <a:p>
            <a:pPr indent="0" marL="0">
              <a:buNone/>
            </a:pPr>
            <a:r>
              <a:rPr lang="en-US" sz="1300" dirty="0">
                <a:solidFill>
                  <a:srgbClr val="1B2430"/>
                </a:solidFill>
              </a:rPr>
              <a:t>Junior analysts spend 44 hours a week on extraction, cleaning and recurring reports; about 26 are automated or assisted.</a:t>
            </a:r>
            <a:endParaRPr lang="en-US" sz="1300" dirty="0"/>
          </a:p>
        </p:txBody>
      </p:sp>
      <p:sp>
        <p:nvSpPr>
          <p:cNvPr id="4" name="plan card"/>
          <p:cNvSpPr/>
          <p:nvPr/>
        </p:nvSpPr>
        <p:spPr>
          <a:xfrm>
            <a:off x="457200" y="182880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40080" y="196596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1 TO 2</a:t>
            </a:r>
            <a:endParaRPr lang="en-US" sz="1100" dirty="0"/>
          </a:p>
        </p:txBody>
      </p:sp>
      <p:sp>
        <p:nvSpPr>
          <p:cNvPr id="6" name="Text 4"/>
          <p:cNvSpPr txBox="1"/>
          <p:nvPr/>
        </p:nvSpPr>
        <p:spPr>
          <a:xfrm>
            <a:off x="640080" y="221284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Definitions and data model</a:t>
            </a:r>
            <a:endParaRPr lang="en-US" sz="1500" dirty="0"/>
          </a:p>
        </p:txBody>
      </p:sp>
      <p:sp>
        <p:nvSpPr>
          <p:cNvPr id="7" name="Text 5"/>
          <p:cNvSpPr txBox="1"/>
          <p:nvPr/>
        </p:nvSpPr>
        <p:spPr>
          <a:xfrm>
            <a:off x="640080" y="2578608"/>
            <a:ext cx="2286000" cy="502920"/>
          </a:xfrm>
          <a:prstGeom prst="rect">
            <a:avLst/>
          </a:prstGeom>
          <a:noFill/>
          <a:ln/>
        </p:spPr>
        <p:txBody>
          <a:bodyPr wrap="square" lIns="0" tIns="0" rIns="0" bIns="0" rtlCol="0" anchor="t"/>
          <a:lstStyle/>
          <a:p>
            <a:pPr indent="0" marL="0">
              <a:buNone/>
            </a:pPr>
            <a:r>
              <a:rPr lang="en-US" sz="1200" dirty="0">
                <a:solidFill>
                  <a:srgbClr val="5B6B7C"/>
                </a:solidFill>
              </a:rPr>
              <a:t>Reproduces all 15 verdicts in Excel or SQL</a:t>
            </a:r>
            <a:endParaRPr lang="en-US" sz="1200" dirty="0"/>
          </a:p>
        </p:txBody>
      </p:sp>
      <p:sp>
        <p:nvSpPr>
          <p:cNvPr id="8" name="plan card"/>
          <p:cNvSpPr/>
          <p:nvPr/>
        </p:nvSpPr>
        <p:spPr>
          <a:xfrm>
            <a:off x="3246120" y="182880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29000" y="196596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3 TO 4</a:t>
            </a:r>
            <a:endParaRPr lang="en-US" sz="1100" dirty="0"/>
          </a:p>
        </p:txBody>
      </p:sp>
      <p:sp>
        <p:nvSpPr>
          <p:cNvPr id="10" name="Text 8"/>
          <p:cNvSpPr txBox="1"/>
          <p:nvPr/>
        </p:nvSpPr>
        <p:spPr>
          <a:xfrm>
            <a:off x="3429000" y="221284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Validation craft</a:t>
            </a:r>
            <a:endParaRPr lang="en-US" sz="1500" dirty="0"/>
          </a:p>
        </p:txBody>
      </p:sp>
      <p:sp>
        <p:nvSpPr>
          <p:cNvPr id="11" name="Text 9"/>
          <p:cNvSpPr txBox="1"/>
          <p:nvPr/>
        </p:nvSpPr>
        <p:spPr>
          <a:xfrm>
            <a:off x="3429000" y="2578608"/>
            <a:ext cx="2286000" cy="502920"/>
          </a:xfrm>
          <a:prstGeom prst="rect">
            <a:avLst/>
          </a:prstGeom>
          <a:noFill/>
          <a:ln/>
        </p:spPr>
        <p:txBody>
          <a:bodyPr wrap="square" lIns="0" tIns="0" rIns="0" bIns="0" rtlCol="0" anchor="t"/>
          <a:lstStyle/>
          <a:p>
            <a:pPr indent="0" marL="0">
              <a:buNone/>
            </a:pPr>
            <a:r>
              <a:rPr lang="en-US" sz="1200" dirty="0">
                <a:solidFill>
                  <a:srgbClr val="5B6B7C"/>
                </a:solidFill>
              </a:rPr>
              <a:t>5 signed-off validation notes</a:t>
            </a:r>
            <a:endParaRPr lang="en-US" sz="1200" dirty="0"/>
          </a:p>
        </p:txBody>
      </p:sp>
      <p:sp>
        <p:nvSpPr>
          <p:cNvPr id="12" name="plan card"/>
          <p:cNvSpPr/>
          <p:nvPr/>
        </p:nvSpPr>
        <p:spPr>
          <a:xfrm>
            <a:off x="6035040" y="182880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217920" y="196596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5 TO 6</a:t>
            </a:r>
            <a:endParaRPr lang="en-US" sz="1100" dirty="0"/>
          </a:p>
        </p:txBody>
      </p:sp>
      <p:sp>
        <p:nvSpPr>
          <p:cNvPr id="14" name="Text 12"/>
          <p:cNvSpPr txBox="1"/>
          <p:nvPr/>
        </p:nvSpPr>
        <p:spPr>
          <a:xfrm>
            <a:off x="6217920" y="221284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Privacy and consent</a:t>
            </a:r>
            <a:endParaRPr lang="en-US" sz="1500" dirty="0"/>
          </a:p>
        </p:txBody>
      </p:sp>
      <p:sp>
        <p:nvSpPr>
          <p:cNvPr id="15" name="Text 13"/>
          <p:cNvSpPr txBox="1"/>
          <p:nvPr/>
        </p:nvSpPr>
        <p:spPr>
          <a:xfrm>
            <a:off x="6217920" y="2578608"/>
            <a:ext cx="2286000" cy="502920"/>
          </a:xfrm>
          <a:prstGeom prst="rect">
            <a:avLst/>
          </a:prstGeom>
          <a:noFill/>
          <a:ln/>
        </p:spPr>
        <p:txBody>
          <a:bodyPr wrap="square" lIns="0" tIns="0" rIns="0" bIns="0" rtlCol="0" anchor="t"/>
          <a:lstStyle/>
          <a:p>
            <a:pPr indent="0" marL="0">
              <a:buNone/>
            </a:pPr>
            <a:r>
              <a:rPr lang="en-US" sz="1200" dirty="0">
                <a:solidFill>
                  <a:srgbClr val="5B6B7C"/>
                </a:solidFill>
              </a:rPr>
              <a:t>Passes the DPO scenario check</a:t>
            </a:r>
            <a:endParaRPr lang="en-US" sz="1200" dirty="0"/>
          </a:p>
        </p:txBody>
      </p:sp>
      <p:sp>
        <p:nvSpPr>
          <p:cNvPr id="16" name="plan card"/>
          <p:cNvSpPr/>
          <p:nvPr/>
        </p:nvSpPr>
        <p:spPr>
          <a:xfrm>
            <a:off x="457200" y="329184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40080" y="342900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7 TO 8</a:t>
            </a:r>
            <a:endParaRPr lang="en-US" sz="1100" dirty="0"/>
          </a:p>
        </p:txBody>
      </p:sp>
      <p:sp>
        <p:nvSpPr>
          <p:cNvPr id="18" name="Text 16"/>
          <p:cNvSpPr txBox="1"/>
          <p:nvPr/>
        </p:nvSpPr>
        <p:spPr>
          <a:xfrm>
            <a:off x="640080" y="367588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Data quality ownership</a:t>
            </a:r>
            <a:endParaRPr lang="en-US" sz="1500" dirty="0"/>
          </a:p>
        </p:txBody>
      </p:sp>
      <p:sp>
        <p:nvSpPr>
          <p:cNvPr id="19" name="Text 17"/>
          <p:cNvSpPr txBox="1"/>
          <p:nvPr/>
        </p:nvSpPr>
        <p:spPr>
          <a:xfrm>
            <a:off x="640080" y="4041648"/>
            <a:ext cx="2286000" cy="502920"/>
          </a:xfrm>
          <a:prstGeom prst="rect">
            <a:avLst/>
          </a:prstGeom>
          <a:noFill/>
          <a:ln/>
        </p:spPr>
        <p:txBody>
          <a:bodyPr wrap="square" lIns="0" tIns="0" rIns="0" bIns="0" rtlCol="0" anchor="t"/>
          <a:lstStyle/>
          <a:p>
            <a:pPr indent="0" marL="0">
              <a:buNone/>
            </a:pPr>
            <a:r>
              <a:rPr lang="en-US" sz="1200" dirty="0">
                <a:solidFill>
                  <a:srgbClr val="5B6B7C"/>
                </a:solidFill>
              </a:rPr>
              <a:t>Zero unexplained changes in the log</a:t>
            </a:r>
            <a:endParaRPr lang="en-US" sz="1200" dirty="0"/>
          </a:p>
        </p:txBody>
      </p:sp>
      <p:sp>
        <p:nvSpPr>
          <p:cNvPr id="20" name="plan card"/>
          <p:cNvSpPr/>
          <p:nvPr/>
        </p:nvSpPr>
        <p:spPr>
          <a:xfrm>
            <a:off x="3246120" y="329184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3429000" y="342900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9 TO 10</a:t>
            </a:r>
            <a:endParaRPr lang="en-US" sz="1100" dirty="0"/>
          </a:p>
        </p:txBody>
      </p:sp>
      <p:sp>
        <p:nvSpPr>
          <p:cNvPr id="22" name="Text 20"/>
          <p:cNvSpPr txBox="1"/>
          <p:nvPr/>
        </p:nvSpPr>
        <p:spPr>
          <a:xfrm>
            <a:off x="3429000" y="367588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Interpretation and causation</a:t>
            </a:r>
            <a:endParaRPr lang="en-US" sz="1500" dirty="0"/>
          </a:p>
        </p:txBody>
      </p:sp>
      <p:sp>
        <p:nvSpPr>
          <p:cNvPr id="23" name="Text 21"/>
          <p:cNvSpPr txBox="1"/>
          <p:nvPr/>
        </p:nvSpPr>
        <p:spPr>
          <a:xfrm>
            <a:off x="3429000" y="4041648"/>
            <a:ext cx="2286000" cy="502920"/>
          </a:xfrm>
          <a:prstGeom prst="rect">
            <a:avLst/>
          </a:prstGeom>
          <a:noFill/>
          <a:ln/>
        </p:spPr>
        <p:txBody>
          <a:bodyPr wrap="square" lIns="0" tIns="0" rIns="0" bIns="0" rtlCol="0" anchor="t"/>
          <a:lstStyle/>
          <a:p>
            <a:pPr indent="0" marL="0">
              <a:buNone/>
            </a:pPr>
            <a:r>
              <a:rPr lang="en-US" sz="1200" dirty="0">
                <a:solidFill>
                  <a:srgbClr val="5B6B7C"/>
                </a:solidFill>
              </a:rPr>
              <a:t>Two stakeholder briefings delivered</a:t>
            </a:r>
            <a:endParaRPr lang="en-US" sz="1200" dirty="0"/>
          </a:p>
        </p:txBody>
      </p:sp>
      <p:sp>
        <p:nvSpPr>
          <p:cNvPr id="24" name="plan card"/>
          <p:cNvSpPr/>
          <p:nvPr/>
        </p:nvSpPr>
        <p:spPr>
          <a:xfrm>
            <a:off x="6035040" y="3291840"/>
            <a:ext cx="2651760" cy="1325880"/>
          </a:xfrm>
          <a:prstGeom prst="roundRect">
            <a:avLst>
              <a:gd name="adj" fmla="val 5517"/>
            </a:avLst>
          </a:prstGeom>
          <a:solidFill>
            <a:srgbClr val="F2F4F7"/>
          </a:solidFill>
          <a:ln w="12700">
            <a:solidFill>
              <a:srgbClr val="F2F4F7"/>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217920" y="3429000"/>
            <a:ext cx="2286000" cy="228600"/>
          </a:xfrm>
          <a:prstGeom prst="rect">
            <a:avLst/>
          </a:prstGeom>
          <a:noFill/>
          <a:ln/>
        </p:spPr>
        <p:txBody>
          <a:bodyPr wrap="square" lIns="0" tIns="0" rIns="0" bIns="0" rtlCol="0" anchor="t"/>
          <a:lstStyle/>
          <a:p>
            <a:pPr indent="0" marL="0">
              <a:buNone/>
            </a:pPr>
            <a:r>
              <a:rPr lang="en-US" sz="1100" b="1" dirty="0">
                <a:solidFill>
                  <a:srgbClr val="D9622B"/>
                </a:solidFill>
              </a:rPr>
              <a:t>WEEKS 11 TO 12</a:t>
            </a:r>
            <a:endParaRPr lang="en-US" sz="1100" dirty="0"/>
          </a:p>
        </p:txBody>
      </p:sp>
      <p:sp>
        <p:nvSpPr>
          <p:cNvPr id="26" name="Text 24"/>
          <p:cNvSpPr txBox="1"/>
          <p:nvPr/>
        </p:nvSpPr>
        <p:spPr>
          <a:xfrm>
            <a:off x="6217920" y="3675888"/>
            <a:ext cx="2286000" cy="320040"/>
          </a:xfrm>
          <a:prstGeom prst="rect">
            <a:avLst/>
          </a:prstGeom>
          <a:noFill/>
          <a:ln/>
        </p:spPr>
        <p:txBody>
          <a:bodyPr wrap="square" lIns="0" tIns="0" rIns="0" bIns="0" rtlCol="0" anchor="t"/>
          <a:lstStyle/>
          <a:p>
            <a:pPr indent="0" marL="0">
              <a:buNone/>
            </a:pPr>
            <a:r>
              <a:rPr lang="en-US" sz="1500" b="1" dirty="0">
                <a:solidFill>
                  <a:srgbClr val="1B2430"/>
                </a:solidFill>
              </a:rPr>
              <a:t>Ownership</a:t>
            </a:r>
            <a:endParaRPr lang="en-US" sz="1500" dirty="0"/>
          </a:p>
        </p:txBody>
      </p:sp>
      <p:sp>
        <p:nvSpPr>
          <p:cNvPr id="27" name="Text 25"/>
          <p:cNvSpPr txBox="1"/>
          <p:nvPr/>
        </p:nvSpPr>
        <p:spPr>
          <a:xfrm>
            <a:off x="6217920" y="4041648"/>
            <a:ext cx="2286000" cy="502920"/>
          </a:xfrm>
          <a:prstGeom prst="rect">
            <a:avLst/>
          </a:prstGeom>
          <a:noFill/>
          <a:ln/>
        </p:spPr>
        <p:txBody>
          <a:bodyPr wrap="square" lIns="0" tIns="0" rIns="0" bIns="0" rtlCol="0" anchor="t"/>
          <a:lstStyle/>
          <a:p>
            <a:pPr indent="0" marL="0">
              <a:buNone/>
            </a:pPr>
            <a:r>
              <a:rPr lang="en-US" sz="1200" dirty="0">
                <a:solidFill>
                  <a:srgbClr val="5B6B7C"/>
                </a:solidFill>
              </a:rPr>
              <a:t>Runs weekly sample QA independently</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3000" b="1" dirty="0">
                <a:solidFill>
                  <a:schemeClr val="bg1"/>
                </a:solidFill>
              </a:rPr>
              <a:t>Keep AI for speed. Keep people accountable.</a:t>
            </a:r>
            <a:endParaRPr lang="en-US" sz="3000" dirty="0"/>
          </a:p>
        </p:txBody>
      </p:sp>
      <p:sp>
        <p:nvSpPr>
          <p:cNvPr id="3" name="limits card"/>
          <p:cNvSpPr/>
          <p:nvPr/>
        </p:nvSpPr>
        <p:spPr>
          <a:xfrm>
            <a:off x="457200" y="1371600"/>
            <a:ext cx="4023360" cy="3200400"/>
          </a:xfrm>
          <a:prstGeom prst="roundRect">
            <a:avLst>
              <a:gd name="adj" fmla="val 2286"/>
            </a:avLst>
          </a:prstGeom>
          <a:solidFill>
            <a:srgbClr val="2D3A4A"/>
          </a:solidFill>
          <a:ln w="12700">
            <a:solidFill>
              <a:srgbClr val="2D3A4A"/>
            </a:solidFill>
            <a:prstDash val="solid"/>
          </a:ln>
        </p:spPr>
      </p:sp>
      <p:sp>
        <p:nvSpPr>
          <p:cNvPr id="4" name="Text 2"/>
          <p:cNvSpPr txBox="1"/>
          <p:nvPr/>
        </p:nvSpPr>
        <p:spPr>
          <a:xfrm>
            <a:off x="685800" y="1554480"/>
            <a:ext cx="3566160" cy="228600"/>
          </a:xfrm>
          <a:prstGeom prst="rect">
            <a:avLst/>
          </a:prstGeom>
          <a:noFill/>
          <a:ln/>
        </p:spPr>
        <p:txBody>
          <a:bodyPr wrap="square" lIns="0" tIns="0" rIns="0" bIns="0" rtlCol="0" anchor="t"/>
          <a:lstStyle/>
          <a:p>
            <a:pPr indent="0" marL="0">
              <a:buNone/>
            </a:pPr>
            <a:r>
              <a:rPr lang="en-US" sz="1200" b="1" dirty="0">
                <a:solidFill>
                  <a:srgbClr val="D9622B"/>
                </a:solidFill>
              </a:rPr>
              <a:t>LIMITATIONS</a:t>
            </a:r>
            <a:endParaRPr lang="en-US" sz="1200" dirty="0"/>
          </a:p>
        </p:txBody>
      </p:sp>
      <p:sp>
        <p:nvSpPr>
          <p:cNvPr id="5" name="Text 3"/>
          <p:cNvSpPr txBox="1"/>
          <p:nvPr/>
        </p:nvSpPr>
        <p:spPr>
          <a:xfrm>
            <a:off x="685800" y="187452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One year of data (2025): no seasonality, trends or causal claims</a:t>
            </a:r>
            <a:endParaRPr lang="en-US" sz="1400" dirty="0"/>
          </a:p>
          <a:p>
            <a:pPr marL="342900" indent="-342900">
              <a:spcAft>
                <a:spcPts val="800"/>
              </a:spcAft>
              <a:buSzPct val="100000"/>
              <a:buChar char="•"/>
            </a:pPr>
            <a:r>
              <a:rPr lang="en-US" sz="1400" dirty="0">
                <a:solidFill>
                  <a:srgbClr val="FFFFFF"/>
                </a:solidFill>
              </a:rPr>
              <a:t>De-duplication is a documented judgement; confirm with the data owner</a:t>
            </a:r>
            <a:endParaRPr lang="en-US" sz="1400" dirty="0"/>
          </a:p>
          <a:p>
            <a:pPr marL="342900" indent="-342900">
              <a:spcAft>
                <a:spcPts val="800"/>
              </a:spcAft>
              <a:buSzPct val="100000"/>
              <a:buChar char="•"/>
            </a:pPr>
            <a:r>
              <a:rPr lang="en-US" sz="1400" dirty="0">
                <a:solidFill>
                  <a:srgbClr val="FFFFFF"/>
                </a:solidFill>
              </a:rPr>
              <a:t>Scorecard hours are planning assumptions, not benchmarks</a:t>
            </a:r>
            <a:endParaRPr lang="en-US" sz="1400" dirty="0"/>
          </a:p>
          <a:p>
            <a:pPr marL="342900" indent="-342900">
              <a:spcAft>
                <a:spcPts val="800"/>
              </a:spcAft>
              <a:buSzPct val="100000"/>
              <a:buChar char="•"/>
            </a:pPr>
            <a:r>
              <a:rPr lang="en-US" sz="1400" dirty="0">
                <a:solidFill>
                  <a:srgbClr val="FFFFFF"/>
                </a:solidFill>
              </a:rPr>
              <a:t>New question types need a registered metric check, else routed to an analyst</a:t>
            </a:r>
            <a:endParaRPr lang="en-US" sz="1400" dirty="0"/>
          </a:p>
        </p:txBody>
      </p:sp>
      <p:sp>
        <p:nvSpPr>
          <p:cNvPr id="6" name="next steps card"/>
          <p:cNvSpPr/>
          <p:nvPr/>
        </p:nvSpPr>
        <p:spPr>
          <a:xfrm>
            <a:off x="4663440" y="1371600"/>
            <a:ext cx="4023360" cy="3200400"/>
          </a:xfrm>
          <a:prstGeom prst="roundRect">
            <a:avLst>
              <a:gd name="adj" fmla="val 2286"/>
            </a:avLst>
          </a:prstGeom>
          <a:solidFill>
            <a:srgbClr val="2D3A4A"/>
          </a:solidFill>
          <a:ln w="12700">
            <a:solidFill>
              <a:srgbClr val="2D3A4A"/>
            </a:solidFill>
            <a:prstDash val="solid"/>
          </a:ln>
        </p:spPr>
      </p:sp>
      <p:sp>
        <p:nvSpPr>
          <p:cNvPr id="7" name="Text 5"/>
          <p:cNvSpPr txBox="1"/>
          <p:nvPr/>
        </p:nvSpPr>
        <p:spPr>
          <a:xfrm>
            <a:off x="4892040" y="1554480"/>
            <a:ext cx="3566160" cy="228600"/>
          </a:xfrm>
          <a:prstGeom prst="rect">
            <a:avLst/>
          </a:prstGeom>
          <a:noFill/>
          <a:ln/>
        </p:spPr>
        <p:txBody>
          <a:bodyPr wrap="square" lIns="0" tIns="0" rIns="0" bIns="0" rtlCol="0" anchor="t"/>
          <a:lstStyle/>
          <a:p>
            <a:pPr indent="0" marL="0">
              <a:buNone/>
            </a:pPr>
            <a:r>
              <a:rPr lang="en-US" sz="1200" b="1" dirty="0">
                <a:solidFill>
                  <a:srgbClr val="D9622B"/>
                </a:solidFill>
              </a:rPr>
              <a:t>NEXT STEPS</a:t>
            </a:r>
            <a:endParaRPr lang="en-US" sz="1200" dirty="0"/>
          </a:p>
        </p:txBody>
      </p:sp>
      <p:sp>
        <p:nvSpPr>
          <p:cNvPr id="8" name="Text 6"/>
          <p:cNvSpPr txBox="1"/>
          <p:nvPr/>
        </p:nvSpPr>
        <p:spPr>
          <a:xfrm>
            <a:off x="4892040" y="187452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Connect the validator to live BI and the governed data layer</a:t>
            </a:r>
            <a:endParaRPr lang="en-US" sz="1400" dirty="0"/>
          </a:p>
          <a:p>
            <a:pPr marL="342900" indent="-342900">
              <a:spcAft>
                <a:spcPts val="800"/>
              </a:spcAft>
              <a:buSzPct val="100000"/>
              <a:buChar char="•"/>
            </a:pPr>
            <a:r>
              <a:rPr lang="en-US" sz="1400" dirty="0">
                <a:solidFill>
                  <a:srgbClr val="FFFFFF"/>
                </a:solidFill>
              </a:rPr>
              <a:t>Roll out 10% sample QA and the audit log</a:t>
            </a:r>
            <a:endParaRPr lang="en-US" sz="1400" dirty="0"/>
          </a:p>
          <a:p>
            <a:pPr marL="342900" indent="-342900">
              <a:spcAft>
                <a:spcPts val="800"/>
              </a:spcAft>
              <a:buSzPct val="100000"/>
              <a:buChar char="•"/>
            </a:pPr>
            <a:r>
              <a:rPr lang="en-US" sz="1400" dirty="0">
                <a:solidFill>
                  <a:srgbClr val="FFFFFF"/>
                </a:solidFill>
              </a:rPr>
              <a:t>Re-run the 15 validated answers as a regression set whenever the model, prompt or data changes</a:t>
            </a:r>
            <a:endParaRPr lang="en-US" sz="1400" dirty="0"/>
          </a:p>
          <a:p>
            <a:pPr marL="342900" indent="-342900">
              <a:spcAft>
                <a:spcPts val="800"/>
              </a:spcAft>
              <a:buSzPct val="100000"/>
              <a:buChar char="•"/>
            </a:pPr>
            <a:r>
              <a:rPr lang="en-US" sz="1400" dirty="0">
                <a:solidFill>
                  <a:srgbClr val="FFFFFF"/>
                </a:solidFill>
              </a:rPr>
              <a:t>Start the 12-week reskilling path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BD2D9"/>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Kestrel Insight">
  <a:themeElements>
    <a:clrScheme name="Kestrel Insight">
      <a:dk1>
        <a:srgbClr val="1B2430"/>
      </a:dk1>
      <a:lt1>
        <a:srgbClr val="FFFFFF"/>
      </a:lt1>
      <a:dk2>
        <a:srgbClr val="2D3A4A"/>
      </a:dk2>
      <a:lt2>
        <a:srgbClr val="F2F4F7"/>
      </a:lt2>
      <a:accent1>
        <a:srgbClr val="D9622B"/>
      </a:accent1>
      <a:accent2>
        <a:srgbClr val="2A9D8F"/>
      </a:accent2>
      <a:accent3>
        <a:srgbClr val="C0392B"/>
      </a:accent3>
      <a:accent4>
        <a:srgbClr val="E9A23B"/>
      </a:accent4>
      <a:accent5>
        <a:srgbClr val="5B6B7C"/>
      </a:accent5>
      <a:accent6>
        <a:srgbClr val="8CCFC4"/>
      </a:accent6>
      <a:hlink>
        <a:srgbClr val="D9622B"/>
      </a:hlink>
      <a:folHlink>
        <a:srgbClr val="5B6B7C"/>
      </a:folHlink>
    </a:clrScheme>
    <a:fontScheme name="Kestrel Ins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Kestrel Living: Can we trust the AI?</dc:title>
  <dc:subject>PptxGenJS Presentation</dc:subject>
  <dc:creator>Pod Lyra</dc:creator>
  <cp:lastModifiedBy>Pod Lyra</cp:lastModifiedBy>
  <cp:revision>1</cp:revision>
  <dcterms:created xsi:type="dcterms:W3CDTF">2026-10-04T17:36:22Z</dcterms:created>
  <dcterms:modified xsi:type="dcterms:W3CDTF">2026-10-04T17:36:22Z</dcterms:modified>
</cp:coreProperties>
</file>